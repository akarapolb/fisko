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84" r:id="rId2"/>
    <p:sldId id="272" r:id="rId3"/>
    <p:sldId id="273" r:id="rId4"/>
    <p:sldId id="287" r:id="rId5"/>
    <p:sldId id="274" r:id="rId6"/>
    <p:sldId id="275" r:id="rId7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12"/>
    <p:sldId id="307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73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Who we are — keep to one minute: 23 years, 150 people, 200+ customers, 30+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Track record. Point at the Government and State Enterprise rows: enterprise performance management, document automation, citizen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1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Customer portfolio across six industries, including government and state enterprises.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71D67-2FCF-4E74-AF55-C1A124F77E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09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lines. Agentic System carries the budget AI agents (M09); Digital Backbone carries the application platform, workflow engine, business rules and integration; Security Platform carries access control, audit and PDPA.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6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Budget Bureau reference: a national budget analytics layer across government agencies — the same data model AEBMS consolidates at agency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65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Avalant cover.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เปิดด้วยภาพรวม: Fisko คือแพลตฟอร์มบริหารงบประมาณสำหรับหน่วยรับงบประมาณ (ชื่อระบบ AEBMS) เอกสารนี้คือ Conceptual Architecture และ Functional Modules เพื่อใช้ยืนยันขอบเขตและทิศทางร่วมกันก่อนเข้าสู่ Detailed Design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วิสัยทัศน์ One Budget Platform และหลักการออกแบบ 5 ข้อ — ทุกโมดูลในสไลด์ถัดไปตอบหลักการเหล่านี้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วงจรงบประมาณ 8 ขั้นตอน แต่ละขั้นคือหนึ่งโมดูล M01–M08 โดยมี M09 และ M10 รองรับตลอดวงจร ฝั่งซ้ายคือก่อนได้รับงบประมาณ ฝั่งขวาคือหลังได้รับงบประมาณ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สถาปัตยกรรมเชิงแนวคิด 5 ชั้น: ผู้ใช้งาน, ชุดโมดูลบริหารงบประมาณ, Intelligent Automation, Integration และ Data Platform โดยมี Security &amp; Governance เป็นคอลัมน์ที่ครอบคลุมทุกชั้น ไม่ใช่สิ่งที่เพิ่มทีหลัง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ภาพสถาปัตยกรรมระดับ Component: ผู้ใช้เข้าผ่านช่องทางต่าง ๆ ผ่าน API Gateway และระบบยืนยันตัวตน เข้าสู่แอปพลิเคชัน Fisko บน Low-code Platform ที่เรียกใช้ Workflow, Business Rules, AI Agents, Document AI และ BI ข้อมูลอยู่ใน Budget Database, Document Repository และ Data Mart ส่วนระบบภายนอกเชื่อมผ่าน Integration Layer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ผู้ใช้ 6 กลุ่ม แต่ละกลุ่มเห็นและทำงานบนข้อมูลชุดเดียวกัน ต่างกันที่สิทธิ์และโมดูลที่ใช้ ควรถามลูกค้าว่าโครงสร้างจริงมีบทบาทใดเพิ่มเติม เช่น คณะกรรมการพิจารณางบประมาณ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แผนผังโมดูลทั้ง 10 แบ่งเป็น 3 กลุ่ม กลุ่มแรก M01–M05 คือแกนของรุ่นแรก เพราะเป็นงานที่ต้องทำทุกปี กลุ่มที่สองและสามออกแบบให้ต่อยอดได้โดยไม่เปลี่ยนสถาปัตยกรรมหลัก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M01 สร้าง Strategic Budget Framework ที่ M02 ใช้ต่อ ทุกคำขอจึงผูกกับแผนและตัวชี้วัดตั้งแต่ต้น โครงสร้างคำขอทางขวาเป็นตัวอย่าง ต้องปรับตามแบบฟอร์มและหลักเกณฑ์ของสำนักงบประมาณในปีที่ใช้งาน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จุดสำคัญคือการกลั่นกรองหลายรอบ ระบบเก็บวงเงินของทุกรอบพร้อมเหตุผลและผู้ปรับ ไม่เขียนทับข้อมูลเดิม ตัวเลขในตารางเป็นข้อมูลสมมติ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ภาพรวมกระบวนการตั้งแต่ต้นจนจบ แยกตามผู้รับผิดชอบ 5 กลุ่ม และ 4 ช่วงของวงจรงบประมาณ เส้นประสีส้มคือการส่งกลับแก้ไข สำนักงบประมาณเป็นหน่วยงานภายนอก ข้อมูลแลกเปลี่ยนผ่านช่องทางที่ได้รับอนุญาต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หลายระดับ 12 ขั้นตอน ตั้งแต่กอง/สำนักจัดทำคำขอจนถึงการจัดสรรและติดตาม ส่งกลับแก้ไขได้ทุกจุดพิจารณา ลำดับขั้นจริงปรับตามโครงสร้างองค์กรของแต่ละหน่วยงานผ่าน Workflow Engine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หลังได้รับงบประมาณ: M06 จัดสรรวงเงินกลับไปยังหน่วยงานภายใน, M07 ติดตามแผนและผลการใช้จ่ายพร้อม Drill-down, M08 เชื่อมงบประมาณกับผลสัมฤทธิ์ ตัวเลขทั้งหมดเป็นข้อมูลสมมติ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เป็นจุดต่างของผลิตภัณฑ์ ใช้ AI Agent Platform 6 Agents ครอบคลุมการจัดทำ ตรวจสอบ วิเคราะห์ ติดตาม และตอบคำถามผู้บริหาร หลักการสำคัญ: AI สนับสนุนการตัดสินใจเท่านั้น การอนุมัติเป็นของผู้มีอำนาจตามระเบียบ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สถาปัตยกรรม AI: ผู้ใช้เรียกใช้ AI ผ่าน 4 ช่องทาง Agent Orchestrator วางแผนงานและเรียกใช้ Agent ที่เหมาะสม Agent ใช้เครื่องมือแบบอ่านอย่างเดียวกับข้อมูลงบประมาณและเอกสาร และส่งผลเป็นข้อเสนอให้มนุษย์ตัดสินใจ เลือกโมเดล LLM ได้ตามนโยบายหน่วยงาน ทั้ง Government Cloud, Private Cloud หรือ On-Premise Governance ทางขวาครอบคลุมทุกชั้น โดยเฉพาะการเข้าถึงข้อมูลตามสิทธิ์ผู้ใช้ และไม่มีการอนุมัติวงเงินอัตโนมัติ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M10 คือรากฐานที่ทำให้ระบบปรับได้ทุกปี โครงสร้างงบประมาณ แบบฟอร์ม และสายอนุมัติเป็น Configuration ไม่ใช่โค้ด ทางขวาคือหลักการออกแบบ 10 ข้อที่ใช้กับทุกโมดูล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Integration Concept: เชื่อมต่อ 5 กลุ่มระบบผ่าน Integration Layer ทุกการเชื่อมต่อต้องตรวจสอบข้อกำหนดและสิทธิ์จากหน่วยงานเจ้าของระบบก่อน แนะนำให้เริ่มขออนุญาตตั้งแต่ Phase 1 เพราะเป็นความเสี่ยงด้านเวลาสูงสุด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เทคโนโลยีหลักเป็นแพลตฟอร์มของ Avalant ที่ใช้งานจริงแล้ว ได้แก่ Low-code Application Platform, Workflow Engine, Business Rules Engine, Agentic AI Platform และ Document AI สำหรับอ่านและตรวจเอกสารประกอบคำขอ ติดตั้งได้ทั้ง Government Cloud, Private Cloud และ On-Premise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แบบจำลองข้อมูลเชิงแนวคิด: แผนยุทธศาสตร์ คำของบประมาณ และวงจรหลังได้รับงบประมาณ เชื่อมกันจนถึงผลการดำเนินงานที่ย้อนกลับไปเทียบกับ KPI ทางขวาคือแนวทางที่ทำให้เปลี่ยนโครงสร้างงบประมาณรายปีได้โดยไม่กระทบข้อมูลย้อนหลัง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แผนพัฒนา 4 ระยะ 9 เดือน เริ่มจากแกนหลักคือข้อมูลหลัก แผน และการจัดทำคำขอ แนะนำให้เริ่มขออนุญาตเชื่อมต่อระบบภายนอกตั้งแต่ Phase 1 ระยะเวลาเป็นสมมติฐานเบื้องต้น ต้องประเมินอีกครั้งตามจำนวนหน่วยงาน แบบฟอร์ม รายงาน และข้อกำหนดการเชื่อมต่อจริง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ปิดด้วยสิ่งที่ต้องทำต่อ: เอกสาร Detailed Design 6 ชุด และประเด็นที่ต้องร่วมกำหนดกับหน่วยงานก่อนเริ่ม ขอให้ลูกค้าระบุผู้ประสานงานและแบบฟอร์ม/รายงานที่ใช้จริง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2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26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image" Target="../media/image26.png"/><Relationship Id="rId25" Type="http://schemas.openxmlformats.org/officeDocument/2006/relationships/image" Target="../media/image27.png"/><Relationship Id="rId26" Type="http://schemas.openxmlformats.org/officeDocument/2006/relationships/image" Target="../media/image28.png"/><Relationship Id="rId27" Type="http://schemas.openxmlformats.org/officeDocument/2006/relationships/image" Target="../media/image29.png"/><Relationship Id="rId28" Type="http://schemas.openxmlformats.org/officeDocument/2006/relationships/image" Target="../media/image30.png"/><Relationship Id="rId29" Type="http://schemas.openxmlformats.org/officeDocument/2006/relationships/image" Target="../media/image31.png"/><Relationship Id="rId30" Type="http://schemas.openxmlformats.org/officeDocument/2006/relationships/image" Target="../media/image32.png"/><Relationship Id="rId31" Type="http://schemas.openxmlformats.org/officeDocument/2006/relationships/image" Target="../media/image33.png"/><Relationship Id="rId32" Type="http://schemas.openxmlformats.org/officeDocument/2006/relationships/image" Target="../media/image34.png"/><Relationship Id="rId33" Type="http://schemas.openxmlformats.org/officeDocument/2006/relationships/image" Target="../media/image35.png"/><Relationship Id="rId34" Type="http://schemas.openxmlformats.org/officeDocument/2006/relationships/image" Target="../media/image36.png"/><Relationship Id="rId35" Type="http://schemas.openxmlformats.org/officeDocument/2006/relationships/image" Target="../media/image37.png"/><Relationship Id="rId36" Type="http://schemas.openxmlformats.org/officeDocument/2006/relationships/image" Target="../media/image38.png"/><Relationship Id="rId37" Type="http://schemas.openxmlformats.org/officeDocument/2006/relationships/image" Target="../media/image39.png"/><Relationship Id="rId38" Type="http://schemas.openxmlformats.org/officeDocument/2006/relationships/image" Target="../media/image40.png"/><Relationship Id="rId39" Type="http://schemas.openxmlformats.org/officeDocument/2006/relationships/image" Target="../media/image41.png"/><Relationship Id="rId40" Type="http://schemas.microsoft.com/office/2007/relationships/hdphoto" Target="../media/hdphoto1.wdp"/><Relationship Id="rId41" Type="http://schemas.openxmlformats.org/officeDocument/2006/relationships/image" Target="../media/image42.png"/><Relationship Id="rId42" Type="http://schemas.openxmlformats.org/officeDocument/2006/relationships/image" Target="../media/image43.pn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46.png"/><Relationship Id="rId46" Type="http://schemas.openxmlformats.org/officeDocument/2006/relationships/image" Target="../media/image47.png"/><Relationship Id="rId47" Type="http://schemas.openxmlformats.org/officeDocument/2006/relationships/image" Target="../media/image48.png"/><Relationship Id="rId48" Type="http://schemas.openxmlformats.org/officeDocument/2006/relationships/image" Target="../media/image49.png"/><Relationship Id="rId49" Type="http://schemas.openxmlformats.org/officeDocument/2006/relationships/image" Target="../media/image5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56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5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54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51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58.png"/><Relationship Id="rId10" Type="http://schemas.openxmlformats.org/officeDocument/2006/relationships/image" Target="../media/image79.png"/><Relationship Id="rId11" Type="http://schemas.openxmlformats.org/officeDocument/2006/relationships/image" Target="../media/image74.png"/><Relationship Id="rId12" Type="http://schemas.openxmlformats.org/officeDocument/2006/relationships/image" Target="../media/image80.png"/><Relationship Id="rId13" Type="http://schemas.openxmlformats.org/officeDocument/2006/relationships/image" Target="../media/image6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020024" y="-1559955"/>
            <a:ext cx="35755116" cy="20248417"/>
          </a:xfrm>
          <a:custGeom>
            <a:avLst/>
            <a:gdLst/>
            <a:ahLst/>
            <a:cxnLst/>
            <a:rect l="l" t="t" r="r" b="b"/>
            <a:pathLst>
              <a:path w="35755116" h="20248417">
                <a:moveTo>
                  <a:pt x="0" y="0"/>
                </a:moveTo>
                <a:lnTo>
                  <a:pt x="35755116" y="0"/>
                </a:lnTo>
                <a:lnTo>
                  <a:pt x="35755116" y="20248418"/>
                </a:lnTo>
                <a:lnTo>
                  <a:pt x="0" y="20248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184997" y="3959748"/>
            <a:ext cx="13918006" cy="2733639"/>
            <a:chOff x="0" y="-85725"/>
            <a:chExt cx="18557342" cy="3644853"/>
          </a:xfrm>
        </p:grpSpPr>
        <p:sp>
          <p:nvSpPr>
            <p:cNvPr id="4" name="TextBox 4"/>
            <p:cNvSpPr txBox="1"/>
            <p:nvPr/>
          </p:nvSpPr>
          <p:spPr>
            <a:xfrm>
              <a:off x="0" y="-85725"/>
              <a:ext cx="18557342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en-US" sz="8000" b="1" spc="-80" dirty="0">
                  <a:latin typeface="Poppins Bold"/>
                  <a:ea typeface="Poppins Bold"/>
                  <a:cs typeface="Poppins Bold"/>
                  <a:sym typeface="Poppins Bold"/>
                </a:rPr>
                <a:t>Intelligent Business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586420" y="1887730"/>
              <a:ext cx="13384502" cy="1671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0"/>
                </a:lnSpc>
              </a:pPr>
              <a:r>
                <a:rPr lang="en-US" sz="2500" i="1" spc="-25" dirty="0">
                  <a:latin typeface="Poppins Italics"/>
                  <a:ea typeface="Poppins Italics"/>
                  <a:cs typeface="Poppins Italics"/>
                  <a:sym typeface="Poppins Italics"/>
                </a:rPr>
                <a:t>“Enabling enterprises to operate autonomously through           AI-driven intelligence and scalable platform.”</a:t>
              </a:r>
            </a:p>
            <a:p>
              <a:pPr algn="ctr">
                <a:lnSpc>
                  <a:spcPts val="3250"/>
                </a:lnSpc>
              </a:pPr>
              <a:endParaRPr lang="en-US" sz="2500" i="1" spc="-25" dirty="0">
                <a:latin typeface="Poppins Italics"/>
                <a:ea typeface="Poppins Italics"/>
                <a:cs typeface="Poppins Italics"/>
                <a:sym typeface="Poppins Italics"/>
              </a:endParaRPr>
            </a:p>
          </p:txBody>
        </p:sp>
      </p:grpSp>
      <p:sp>
        <p:nvSpPr>
          <p:cNvPr id="7" name="TextBox 8">
            <a:extLst>
              <a:ext uri="{FF2B5EF4-FFF2-40B4-BE49-F238E27FC236}">
                <a16:creationId xmlns:a16="http://schemas.microsoft.com/office/drawing/2014/main" id="{DD7031AC-87EA-95EA-CA0D-4EDB5C21B82F}"/>
              </a:ext>
            </a:extLst>
          </p:cNvPr>
          <p:cNvSpPr txBox="1"/>
          <p:nvPr/>
        </p:nvSpPr>
        <p:spPr>
          <a:xfrm>
            <a:off x="5878402" y="9791700"/>
            <a:ext cx="6183154" cy="287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600" dirty="0">
                <a:latin typeface="Inter" panose="020B0604020202020204" charset="0"/>
                <a:ea typeface="Inter" panose="020B0604020202020204" charset="0"/>
                <a:cs typeface="Codec Pro"/>
                <a:sym typeface="Codec Pro"/>
              </a:rPr>
              <a:t>© 2026 Avalant. All rights reserved.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F3A8A5F1-102E-9A9C-F398-0131C746B62B}"/>
              </a:ext>
            </a:extLst>
          </p:cNvPr>
          <p:cNvSpPr/>
          <p:nvPr/>
        </p:nvSpPr>
        <p:spPr>
          <a:xfrm>
            <a:off x="7921842" y="1615648"/>
            <a:ext cx="2096274" cy="590896"/>
          </a:xfrm>
          <a:custGeom>
            <a:avLst/>
            <a:gdLst/>
            <a:ahLst/>
            <a:cxnLst/>
            <a:rect l="l" t="t" r="r" b="b"/>
            <a:pathLst>
              <a:path w="2096274" h="590896">
                <a:moveTo>
                  <a:pt x="0" y="0"/>
                </a:moveTo>
                <a:lnTo>
                  <a:pt x="2096274" y="0"/>
                </a:lnTo>
                <a:lnTo>
                  <a:pt x="2096274" y="590896"/>
                </a:lnTo>
                <a:lnTo>
                  <a:pt x="0" y="590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B50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tmp/assets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3632" y="868680"/>
            <a:ext cx="1920240" cy="544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8686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40" dirty="0">
                <a:solidFill>
                  <a:srgbClr val="2AD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PRESENTING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24128" y="1920240"/>
            <a:ext cx="11521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Empower businesses globally with </a:t>
            </a:r>
            <a:r>
              <a:rPr lang="en-US" sz="3800" b="1" i="1" dirty="0">
                <a:solidFill>
                  <a:srgbClr val="2AD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AI-driven solutions</a:t>
            </a: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 simplify operations, enhance decision-making, and accelerate business transformation.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024128" y="6537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AD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1024128" y="7772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business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956048" y="6537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AD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150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956048" y="7772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87968" y="6537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AD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200+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8887968" y="7772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portfolio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19888" y="6537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AD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30+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12819888" y="7772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24128" y="8458200"/>
            <a:ext cx="1417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Thai-headquartered. 23 years delivering enterprise platforms and, since 2023, production agentic systems — for banks, insurers, state enterprises and retail groups.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Avalant.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232" y="841248"/>
            <a:ext cx="1691640" cy="4800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Avalant.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40" dirty="0">
                <a:solidFill>
                  <a:srgbClr val="1B9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Industry expertise combined with technology innovation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1024128" y="2788920"/>
            <a:ext cx="5120640" cy="2514600"/>
          </a:xfrm>
          <a:prstGeom prst="roundRect">
            <a:avLst>
              <a:gd name="adj" fmla="val 5091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81328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Banking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81328" y="3657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management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0" y="2788920"/>
            <a:ext cx="5120640" cy="2514600"/>
          </a:xfrm>
          <a:prstGeom prst="roundRect">
            <a:avLst>
              <a:gd name="adj" fmla="val 5091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Insurance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040880" y="3657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platform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2143232" y="2788920"/>
            <a:ext cx="5120640" cy="2514600"/>
          </a:xfrm>
          <a:prstGeom prst="roundRect">
            <a:avLst>
              <a:gd name="adj" fmla="val 5091"/>
            </a:avLst>
          </a:prstGeom>
          <a:solidFill>
            <a:srgbClr val="1A1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600432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AD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 &amp; Industrials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2600432" y="3657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measures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operation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24128" y="5687568"/>
            <a:ext cx="5120640" cy="2514600"/>
          </a:xfrm>
          <a:prstGeom prst="roundRect">
            <a:avLst>
              <a:gd name="adj" fmla="val 5091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481328" y="6007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 Enterprise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481328" y="6556248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performance management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APIs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583680" y="5687568"/>
            <a:ext cx="5120640" cy="2514600"/>
          </a:xfrm>
          <a:prstGeom prst="roundRect">
            <a:avLst>
              <a:gd name="adj" fmla="val 5091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040880" y="6007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Government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040880" y="6556248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automation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platform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2143232" y="5687568"/>
            <a:ext cx="5120640" cy="2514600"/>
          </a:xfrm>
          <a:prstGeom prst="roundRect">
            <a:avLst>
              <a:gd name="adj" fmla="val 5091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600432" y="6007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industries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2600432" y="6556248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Modernised HCM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and more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024128" y="8275320"/>
            <a:ext cx="16239744" cy="868680"/>
          </a:xfrm>
          <a:prstGeom prst="roundRect">
            <a:avLst>
              <a:gd name="adj" fmla="val 14737"/>
            </a:avLst>
          </a:prstGeom>
          <a:solidFill>
            <a:srgbClr val="D9F6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527048" y="8275320"/>
            <a:ext cx="15233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 years </a:t>
            </a:r>
            <a:r>
              <a:rPr lang="en-US" sz="1600" dirty="0">
                <a:solidFill>
                  <a:srgbClr val="21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banks and financial services, life and general insurance, healthcare and telcos, retail and industrials, state enterprises, and the public sector.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379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9B34-D45E-DA87-33D3-DDEC7961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12FB060-147A-0730-B3D9-F7F12F201F50}"/>
              </a:ext>
            </a:extLst>
          </p:cNvPr>
          <p:cNvGraphicFramePr>
            <a:graphicFrameLocks noGrp="1"/>
          </p:cNvGraphicFramePr>
          <p:nvPr/>
        </p:nvGraphicFramePr>
        <p:xfrm>
          <a:off x="586448" y="2794212"/>
          <a:ext cx="17432202" cy="70158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5367">
                  <a:extLst>
                    <a:ext uri="{9D8B030D-6E8A-4147-A177-3AD203B41FA5}">
                      <a16:colId xmlns:a16="http://schemas.microsoft.com/office/drawing/2014/main" val="3493575087"/>
                    </a:ext>
                  </a:extLst>
                </a:gridCol>
                <a:gridCol w="2905367">
                  <a:extLst>
                    <a:ext uri="{9D8B030D-6E8A-4147-A177-3AD203B41FA5}">
                      <a16:colId xmlns:a16="http://schemas.microsoft.com/office/drawing/2014/main" val="709477481"/>
                    </a:ext>
                  </a:extLst>
                </a:gridCol>
                <a:gridCol w="2905367">
                  <a:extLst>
                    <a:ext uri="{9D8B030D-6E8A-4147-A177-3AD203B41FA5}">
                      <a16:colId xmlns:a16="http://schemas.microsoft.com/office/drawing/2014/main" val="1307394402"/>
                    </a:ext>
                  </a:extLst>
                </a:gridCol>
                <a:gridCol w="2905367">
                  <a:extLst>
                    <a:ext uri="{9D8B030D-6E8A-4147-A177-3AD203B41FA5}">
                      <a16:colId xmlns:a16="http://schemas.microsoft.com/office/drawing/2014/main" val="1495598167"/>
                    </a:ext>
                  </a:extLst>
                </a:gridCol>
                <a:gridCol w="2905367">
                  <a:extLst>
                    <a:ext uri="{9D8B030D-6E8A-4147-A177-3AD203B41FA5}">
                      <a16:colId xmlns:a16="http://schemas.microsoft.com/office/drawing/2014/main" val="2752639916"/>
                    </a:ext>
                  </a:extLst>
                </a:gridCol>
                <a:gridCol w="2905367">
                  <a:extLst>
                    <a:ext uri="{9D8B030D-6E8A-4147-A177-3AD203B41FA5}">
                      <a16:colId xmlns:a16="http://schemas.microsoft.com/office/drawing/2014/main" val="163527004"/>
                    </a:ext>
                  </a:extLst>
                </a:gridCol>
              </a:tblGrid>
              <a:tr h="873069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BANKS &amp; </a:t>
                      </a:r>
                    </a:p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</a:t>
                      </a:r>
                    </a:p>
                  </a:txBody>
                  <a:tcPr marL="137160" marR="137160" marT="68580" marB="6858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INSURANCE</a:t>
                      </a:r>
                      <a:r>
                        <a:rPr lang="th-TH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(LIFE/GENERAL)</a:t>
                      </a:r>
                    </a:p>
                  </a:txBody>
                  <a:tcPr marL="137160" marR="137160" marT="68580" marB="6858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 CARE</a:t>
                      </a:r>
                      <a:r>
                        <a:rPr lang="th-TH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TELCOS</a:t>
                      </a:r>
                    </a:p>
                  </a:txBody>
                  <a:tcPr marL="137160" marR="137160" marT="68580" marB="6858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RETAIL &amp; INDUSTRIALS</a:t>
                      </a:r>
                    </a:p>
                  </a:txBody>
                  <a:tcPr marL="137160" marR="137160" marT="68580" marB="6858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</a:t>
                      </a:r>
                    </a:p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ENTERPRISES</a:t>
                      </a:r>
                    </a:p>
                  </a:txBody>
                  <a:tcPr marL="137160" marR="137160" marT="68580" marB="6858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GOVERNMENT &amp; PUBLIC SECTOR</a:t>
                      </a:r>
                    </a:p>
                  </a:txBody>
                  <a:tcPr marL="137160" marR="137160" marT="68580" marB="68580" anchor="b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445822"/>
                  </a:ext>
                </a:extLst>
              </a:tr>
              <a:tr h="6142773"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325250"/>
                  </a:ext>
                </a:extLst>
              </a:tr>
            </a:tbl>
          </a:graphicData>
        </a:graphic>
      </p:graphicFrame>
      <p:pic>
        <p:nvPicPr>
          <p:cNvPr id="1025" name="Picture 12">
            <a:extLst>
              <a:ext uri="{FF2B5EF4-FFF2-40B4-BE49-F238E27FC236}">
                <a16:creationId xmlns:a16="http://schemas.microsoft.com/office/drawing/2014/main" id="{FB398DAE-2B81-5792-01B6-A282F6A326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271238" y="6143492"/>
            <a:ext cx="832416" cy="468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 descr="A green and blue background with hexagons&#10;&#10;Description automatically generated">
            <a:extLst>
              <a:ext uri="{FF2B5EF4-FFF2-40B4-BE49-F238E27FC236}">
                <a16:creationId xmlns:a16="http://schemas.microsoft.com/office/drawing/2014/main" id="{4F68A2CF-6DC9-E9BA-C3CE-464C1F16BB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989"/>
          <a:stretch/>
        </p:blipFill>
        <p:spPr>
          <a:xfrm>
            <a:off x="0" y="-96366"/>
            <a:ext cx="18288000" cy="2501096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4CF28527-747E-FC1E-BB9D-235576611D09}"/>
              </a:ext>
            </a:extLst>
          </p:cNvPr>
          <p:cNvSpPr/>
          <p:nvPr/>
        </p:nvSpPr>
        <p:spPr>
          <a:xfrm>
            <a:off x="0" y="0"/>
            <a:ext cx="18288000" cy="2358060"/>
          </a:xfrm>
          <a:prstGeom prst="rect">
            <a:avLst/>
          </a:prstGeom>
          <a:solidFill>
            <a:srgbClr val="0D0D0D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>
              <a:defRPr/>
            </a:pPr>
            <a:endParaRPr lang="en-US" sz="270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AB1A211-FC2F-A8C7-5B2B-362244FA8B4F}"/>
              </a:ext>
            </a:extLst>
          </p:cNvPr>
          <p:cNvGraphicFramePr>
            <a:graphicFrameLocks noGrp="1"/>
          </p:cNvGraphicFramePr>
          <p:nvPr/>
        </p:nvGraphicFramePr>
        <p:xfrm>
          <a:off x="474801" y="457342"/>
          <a:ext cx="17772221" cy="124007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24073">
                  <a:extLst>
                    <a:ext uri="{9D8B030D-6E8A-4147-A177-3AD203B41FA5}">
                      <a16:colId xmlns:a16="http://schemas.microsoft.com/office/drawing/2014/main" val="3478987281"/>
                    </a:ext>
                  </a:extLst>
                </a:gridCol>
                <a:gridCol w="11848148">
                  <a:extLst>
                    <a:ext uri="{9D8B030D-6E8A-4147-A177-3AD203B41FA5}">
                      <a16:colId xmlns:a16="http://schemas.microsoft.com/office/drawing/2014/main" val="3610654026"/>
                    </a:ext>
                  </a:extLst>
                </a:gridCol>
              </a:tblGrid>
              <a:tr h="1240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Reimagine your digital future</a:t>
                      </a:r>
                      <a:r>
                        <a:rPr lang="th-TH" sz="17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7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</a:t>
                      </a:r>
                      <a:endParaRPr lang="th-TH" sz="17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37160" marR="137160" marT="68580" marB="6858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Open Sans" panose="020B0606030504020204" pitchFamily="34" charset="0"/>
                          <a:cs typeface="Arial" panose="020B0604020202020204" pitchFamily="34" charset="0"/>
                        </a:rPr>
                        <a:t>23+ years of experience in drive business and intelligent transformation cross industries</a:t>
                      </a:r>
                      <a:endParaRPr kumimoji="0" 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Open Sans" panose="020B0606030504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68580" marB="6858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109675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38A9E1-C0C6-B68B-0727-015BB90E84CF}"/>
              </a:ext>
            </a:extLst>
          </p:cNvPr>
          <p:cNvSpPr txBox="1">
            <a:spLocks/>
          </p:cNvSpPr>
          <p:nvPr/>
        </p:nvSpPr>
        <p:spPr>
          <a:xfrm>
            <a:off x="9378132" y="773853"/>
            <a:ext cx="2847060" cy="1721457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Aft>
                <a:spcPts val="1500"/>
              </a:spcAft>
              <a:buClr>
                <a:prstClr val="black"/>
              </a:buClr>
              <a:buNone/>
              <a:defRPr/>
            </a:pPr>
            <a:endParaRPr lang="en-US" sz="1575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F44E1B-7F55-1656-F855-DA5F27E3DCD2}"/>
              </a:ext>
            </a:extLst>
          </p:cNvPr>
          <p:cNvSpPr txBox="1">
            <a:spLocks/>
          </p:cNvSpPr>
          <p:nvPr/>
        </p:nvSpPr>
        <p:spPr>
          <a:xfrm>
            <a:off x="11698616" y="776087"/>
            <a:ext cx="4082538" cy="1721457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Aft>
                <a:spcPts val="1500"/>
              </a:spcAft>
              <a:buClr>
                <a:prstClr val="black"/>
              </a:buClr>
              <a:buNone/>
              <a:defRPr/>
            </a:pPr>
            <a:endParaRPr lang="en-US" sz="1575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A2779E-6664-5B3C-EF93-59BFB78BEA28}"/>
              </a:ext>
            </a:extLst>
          </p:cNvPr>
          <p:cNvSpPr txBox="1">
            <a:spLocks/>
          </p:cNvSpPr>
          <p:nvPr/>
        </p:nvSpPr>
        <p:spPr>
          <a:xfrm>
            <a:off x="15317028" y="773853"/>
            <a:ext cx="2847060" cy="1721457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Aft>
                <a:spcPts val="1500"/>
              </a:spcAft>
              <a:buClr>
                <a:prstClr val="black"/>
              </a:buClr>
              <a:buNone/>
              <a:defRPr/>
            </a:pPr>
            <a:endParaRPr lang="en-US" sz="1575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3D686B4-B1C5-4916-C348-996421525D95}"/>
              </a:ext>
            </a:extLst>
          </p:cNvPr>
          <p:cNvSpPr txBox="1">
            <a:spLocks/>
          </p:cNvSpPr>
          <p:nvPr/>
        </p:nvSpPr>
        <p:spPr>
          <a:xfrm>
            <a:off x="6181538" y="765569"/>
            <a:ext cx="4082540" cy="1721457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Aft>
                <a:spcPts val="0"/>
              </a:spcAft>
              <a:buClr>
                <a:prstClr val="black"/>
              </a:buClr>
              <a:buNone/>
              <a:defRPr/>
            </a:pPr>
            <a:endParaRPr lang="en-US" sz="1575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BB73A93A-0E0A-1617-3D73-B503594A1F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0832" y="716051"/>
            <a:ext cx="3646247" cy="1036449"/>
          </a:xfrm>
          <a:prstGeom prst="rect">
            <a:avLst/>
          </a:prstGeom>
        </p:spPr>
      </p:pic>
      <p:pic>
        <p:nvPicPr>
          <p:cNvPr id="1030" name="Picture 6" descr="Kasikornbank logo png transparent">
            <a:extLst>
              <a:ext uri="{FF2B5EF4-FFF2-40B4-BE49-F238E27FC236}">
                <a16:creationId xmlns:a16="http://schemas.microsoft.com/office/drawing/2014/main" id="{82008E23-A2F2-D6F5-0C29-A22A913B7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851" y="3949920"/>
            <a:ext cx="1545875" cy="386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>
            <a:extLst>
              <a:ext uri="{FF2B5EF4-FFF2-40B4-BE49-F238E27FC236}">
                <a16:creationId xmlns:a16="http://schemas.microsoft.com/office/drawing/2014/main" id="{ADCD2E89-0D66-59B3-6333-833BFD486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0444" y="4494791"/>
            <a:ext cx="1420802" cy="39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>
            <a:extLst>
              <a:ext uri="{FF2B5EF4-FFF2-40B4-BE49-F238E27FC236}">
                <a16:creationId xmlns:a16="http://schemas.microsoft.com/office/drawing/2014/main" id="{1681307B-3520-E455-402B-8F50DD4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7623" y="6751288"/>
            <a:ext cx="537413" cy="62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>
            <a:extLst>
              <a:ext uri="{FF2B5EF4-FFF2-40B4-BE49-F238E27FC236}">
                <a16:creationId xmlns:a16="http://schemas.microsoft.com/office/drawing/2014/main" id="{820D4BCC-13AD-C185-3227-3F7DEAE9D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7740" y="7547395"/>
            <a:ext cx="637179" cy="83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6">
            <a:extLst>
              <a:ext uri="{FF2B5EF4-FFF2-40B4-BE49-F238E27FC236}">
                <a16:creationId xmlns:a16="http://schemas.microsoft.com/office/drawing/2014/main" id="{AB267F73-CFA3-0992-18FD-A64251CD1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391737" y="7232999"/>
            <a:ext cx="438825" cy="44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>
            <a:extLst>
              <a:ext uri="{FF2B5EF4-FFF2-40B4-BE49-F238E27FC236}">
                <a16:creationId xmlns:a16="http://schemas.microsoft.com/office/drawing/2014/main" id="{B80DFA74-86CD-206C-B69F-7897C0E13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0940" y="8498030"/>
            <a:ext cx="984015" cy="27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6">
            <a:extLst>
              <a:ext uri="{FF2B5EF4-FFF2-40B4-BE49-F238E27FC236}">
                <a16:creationId xmlns:a16="http://schemas.microsoft.com/office/drawing/2014/main" id="{C39675A6-462B-552E-EA7A-9D2ADEB8D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95736" y="5579315"/>
            <a:ext cx="723315" cy="44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6">
            <a:extLst>
              <a:ext uri="{FF2B5EF4-FFF2-40B4-BE49-F238E27FC236}">
                <a16:creationId xmlns:a16="http://schemas.microsoft.com/office/drawing/2014/main" id="{AF121597-E484-F543-2DD7-9F59856FF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77073" y="7037027"/>
            <a:ext cx="894818" cy="39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>
            <a:extLst>
              <a:ext uri="{FF2B5EF4-FFF2-40B4-BE49-F238E27FC236}">
                <a16:creationId xmlns:a16="http://schemas.microsoft.com/office/drawing/2014/main" id="{D21F349B-E854-9F1B-BED4-0A6E8956F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613444" y="6371945"/>
            <a:ext cx="1140767" cy="42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6">
            <a:extLst>
              <a:ext uri="{FF2B5EF4-FFF2-40B4-BE49-F238E27FC236}">
                <a16:creationId xmlns:a16="http://schemas.microsoft.com/office/drawing/2014/main" id="{5F516CF8-843F-687E-21F9-2EB5099F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77073" y="4015011"/>
            <a:ext cx="981278" cy="32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6">
            <a:extLst>
              <a:ext uri="{FF2B5EF4-FFF2-40B4-BE49-F238E27FC236}">
                <a16:creationId xmlns:a16="http://schemas.microsoft.com/office/drawing/2014/main" id="{CC456390-2369-B470-075F-15742AE4E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638544" y="4761800"/>
            <a:ext cx="481701" cy="51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DA8E133C-90AC-CD58-2163-431C223E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13620" y="7514680"/>
            <a:ext cx="981278" cy="102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2F111EC-E707-481B-A479-673BBE3CA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1506" y="4030915"/>
            <a:ext cx="1275584" cy="39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12">
            <a:extLst>
              <a:ext uri="{FF2B5EF4-FFF2-40B4-BE49-F238E27FC236}">
                <a16:creationId xmlns:a16="http://schemas.microsoft.com/office/drawing/2014/main" id="{C8306D22-6531-4A3F-60B9-0DE2C05A0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92041" y="5368087"/>
            <a:ext cx="537413" cy="53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2">
            <a:extLst>
              <a:ext uri="{FF2B5EF4-FFF2-40B4-BE49-F238E27FC236}">
                <a16:creationId xmlns:a16="http://schemas.microsoft.com/office/drawing/2014/main" id="{EAF5A35A-AAEC-07CA-8824-3BBF23996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77000" y="4610100"/>
            <a:ext cx="656310" cy="65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12">
            <a:extLst>
              <a:ext uri="{FF2B5EF4-FFF2-40B4-BE49-F238E27FC236}">
                <a16:creationId xmlns:a16="http://schemas.microsoft.com/office/drawing/2014/main" id="{18A0B29B-60A8-7806-A236-7701A317B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344048" y="3613484"/>
            <a:ext cx="1142394" cy="114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2">
            <a:extLst>
              <a:ext uri="{FF2B5EF4-FFF2-40B4-BE49-F238E27FC236}">
                <a16:creationId xmlns:a16="http://schemas.microsoft.com/office/drawing/2014/main" id="{589258BE-3EFE-187C-A3CF-C4699E005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448808" y="4664233"/>
            <a:ext cx="885945" cy="34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12">
            <a:extLst>
              <a:ext uri="{FF2B5EF4-FFF2-40B4-BE49-F238E27FC236}">
                <a16:creationId xmlns:a16="http://schemas.microsoft.com/office/drawing/2014/main" id="{EE657C05-152C-53B0-91D7-3DD214B37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339137" y="5293471"/>
            <a:ext cx="1189784" cy="30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2">
            <a:extLst>
              <a:ext uri="{FF2B5EF4-FFF2-40B4-BE49-F238E27FC236}">
                <a16:creationId xmlns:a16="http://schemas.microsoft.com/office/drawing/2014/main" id="{A540B567-E23C-A752-D8EB-F748B94AA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434512" y="6438900"/>
            <a:ext cx="547688" cy="54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logo">
            <a:extLst>
              <a:ext uri="{FF2B5EF4-FFF2-40B4-BE49-F238E27FC236}">
                <a16:creationId xmlns:a16="http://schemas.microsoft.com/office/drawing/2014/main" id="{E6599DAC-111B-B156-7FAF-0CB124774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401557" y="8823710"/>
            <a:ext cx="1162043" cy="21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2">
            <a:extLst>
              <a:ext uri="{FF2B5EF4-FFF2-40B4-BE49-F238E27FC236}">
                <a16:creationId xmlns:a16="http://schemas.microsoft.com/office/drawing/2014/main" id="{759BB8BC-B104-43C2-86C2-80C1EF88D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273881" y="3942471"/>
            <a:ext cx="611966" cy="72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2">
            <a:extLst>
              <a:ext uri="{FF2B5EF4-FFF2-40B4-BE49-F238E27FC236}">
                <a16:creationId xmlns:a16="http://schemas.microsoft.com/office/drawing/2014/main" id="{0B389999-68BF-4F3D-A3DE-07F14E0CA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398544" y="4804404"/>
            <a:ext cx="400875" cy="63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C115A925-89F5-23AA-AE6C-C2599056E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354160" y="7945709"/>
            <a:ext cx="619709" cy="21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12">
            <a:extLst>
              <a:ext uri="{FF2B5EF4-FFF2-40B4-BE49-F238E27FC236}">
                <a16:creationId xmlns:a16="http://schemas.microsoft.com/office/drawing/2014/main" id="{3997502D-8A7D-0DE5-DFC3-35C8E5ACA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344651" y="5556046"/>
            <a:ext cx="547688" cy="54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2">
            <a:extLst>
              <a:ext uri="{FF2B5EF4-FFF2-40B4-BE49-F238E27FC236}">
                <a16:creationId xmlns:a16="http://schemas.microsoft.com/office/drawing/2014/main" id="{E7512728-489D-E917-9E0D-18DBAEC3D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232904" y="3949921"/>
            <a:ext cx="437213" cy="50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12">
            <a:extLst>
              <a:ext uri="{FF2B5EF4-FFF2-40B4-BE49-F238E27FC236}">
                <a16:creationId xmlns:a16="http://schemas.microsoft.com/office/drawing/2014/main" id="{CEF8D0D8-CBF8-86D6-3D4A-E719A8FDA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82444" y="5970497"/>
            <a:ext cx="487673" cy="508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12">
            <a:extLst>
              <a:ext uri="{FF2B5EF4-FFF2-40B4-BE49-F238E27FC236}">
                <a16:creationId xmlns:a16="http://schemas.microsoft.com/office/drawing/2014/main" id="{EBEB04F5-19BE-FA01-CB2A-A85150FDE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57535" y="4607293"/>
            <a:ext cx="563042" cy="56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2">
            <a:extLst>
              <a:ext uri="{FF2B5EF4-FFF2-40B4-BE49-F238E27FC236}">
                <a16:creationId xmlns:a16="http://schemas.microsoft.com/office/drawing/2014/main" id="{CCE2AA25-1487-B807-C19B-1CEDD3595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96958" y="6644946"/>
            <a:ext cx="468261" cy="468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2">
            <a:extLst>
              <a:ext uri="{FF2B5EF4-FFF2-40B4-BE49-F238E27FC236}">
                <a16:creationId xmlns:a16="http://schemas.microsoft.com/office/drawing/2014/main" id="{39BED9F0-65BD-6020-A8A5-46C138626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272597" y="6727418"/>
            <a:ext cx="832416" cy="27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2">
            <a:extLst>
              <a:ext uri="{FF2B5EF4-FFF2-40B4-BE49-F238E27FC236}">
                <a16:creationId xmlns:a16="http://schemas.microsoft.com/office/drawing/2014/main" id="{6FEAE55F-CF8C-6C28-6988-91BFC566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70934" y="8558069"/>
            <a:ext cx="536241" cy="33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2">
            <a:extLst>
              <a:ext uri="{FF2B5EF4-FFF2-40B4-BE49-F238E27FC236}">
                <a16:creationId xmlns:a16="http://schemas.microsoft.com/office/drawing/2014/main" id="{A80CFBAF-5713-D60E-527A-FE78CF504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57535" y="7109585"/>
            <a:ext cx="751356" cy="75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2">
            <a:extLst>
              <a:ext uri="{FF2B5EF4-FFF2-40B4-BE49-F238E27FC236}">
                <a16:creationId xmlns:a16="http://schemas.microsoft.com/office/drawing/2014/main" id="{2787FA38-0859-5D84-3E0E-3CDDAE3F8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91981" y="7894206"/>
            <a:ext cx="539580" cy="53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2">
            <a:extLst>
              <a:ext uri="{FF2B5EF4-FFF2-40B4-BE49-F238E27FC236}">
                <a16:creationId xmlns:a16="http://schemas.microsoft.com/office/drawing/2014/main" id="{8A723783-C89A-B61B-B44A-90174B689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101177" y="4609691"/>
            <a:ext cx="453435" cy="50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2">
            <a:extLst>
              <a:ext uri="{FF2B5EF4-FFF2-40B4-BE49-F238E27FC236}">
                <a16:creationId xmlns:a16="http://schemas.microsoft.com/office/drawing/2014/main" id="{A304EE82-B0BE-0166-0D3F-BCD1850E9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 cstate="screen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57535" y="5254262"/>
            <a:ext cx="541485" cy="53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6">
            <a:extLst>
              <a:ext uri="{FF2B5EF4-FFF2-40B4-BE49-F238E27FC236}">
                <a16:creationId xmlns:a16="http://schemas.microsoft.com/office/drawing/2014/main" id="{9B2F5859-36E8-F9A8-AAB5-5CEB7B945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4801" y="5864217"/>
            <a:ext cx="1204467" cy="48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6">
            <a:extLst>
              <a:ext uri="{FF2B5EF4-FFF2-40B4-BE49-F238E27FC236}">
                <a16:creationId xmlns:a16="http://schemas.microsoft.com/office/drawing/2014/main" id="{F838F922-1D2F-2447-1C71-D08CBA52B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4804" y="5168582"/>
            <a:ext cx="1204461" cy="48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12">
            <a:extLst>
              <a:ext uri="{FF2B5EF4-FFF2-40B4-BE49-F238E27FC236}">
                <a16:creationId xmlns:a16="http://schemas.microsoft.com/office/drawing/2014/main" id="{954B8317-5D33-13BD-EF1A-B0E9E8BC5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85235" y="6133349"/>
            <a:ext cx="868850" cy="31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12">
            <a:extLst>
              <a:ext uri="{FF2B5EF4-FFF2-40B4-BE49-F238E27FC236}">
                <a16:creationId xmlns:a16="http://schemas.microsoft.com/office/drawing/2014/main" id="{EE395960-A9C9-388D-8D8E-A8A0DBFB8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17015" y="6743700"/>
            <a:ext cx="798185" cy="36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12">
            <a:extLst>
              <a:ext uri="{FF2B5EF4-FFF2-40B4-BE49-F238E27FC236}">
                <a16:creationId xmlns:a16="http://schemas.microsoft.com/office/drawing/2014/main" id="{B8A88511-C78C-F9B6-3847-30A2F1F7A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343291" y="5894877"/>
            <a:ext cx="1189784" cy="29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 descr="GE Money – Wikipedia">
            <a:extLst>
              <a:ext uri="{FF2B5EF4-FFF2-40B4-BE49-F238E27FC236}">
                <a16:creationId xmlns:a16="http://schemas.microsoft.com/office/drawing/2014/main" id="{D07955E0-2699-50BC-08D3-E162206E2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7622" y="9020602"/>
            <a:ext cx="957333" cy="33746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962A614-AFBD-DFE2-FF75-1DE83B84C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328163" y="8393184"/>
            <a:ext cx="703787" cy="17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705FE0-8CE0-AC7E-FF11-020A1CDAE106}"/>
              </a:ext>
            </a:extLst>
          </p:cNvPr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3622" y="3923703"/>
            <a:ext cx="537978" cy="5379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BD9B31-88DF-2E25-53FB-0771E3C765FE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2816" y="5323621"/>
            <a:ext cx="537978" cy="522847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ED83D5DD-695A-838E-97A1-2BA10C3CF50E}"/>
              </a:ext>
            </a:extLst>
          </p:cNvPr>
          <p:cNvSpPr txBox="1"/>
          <p:nvPr/>
        </p:nvSpPr>
        <p:spPr>
          <a:xfrm>
            <a:off x="5878402" y="9791700"/>
            <a:ext cx="6183154" cy="287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600" dirty="0">
                <a:latin typeface="Inter" panose="020B0604020202020204" charset="0"/>
                <a:ea typeface="Inter" panose="020B0604020202020204" charset="0"/>
                <a:cs typeface="Codec Pro"/>
                <a:sym typeface="Codec Pro"/>
              </a:rPr>
              <a:t>© 2026 Avalant.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5814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232" y="841248"/>
            <a:ext cx="1691640" cy="4800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Avalant.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40" dirty="0">
                <a:solidFill>
                  <a:srgbClr val="1B9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24128" y="1243584"/>
            <a:ext cx="1188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intelligent product offerings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24128" y="2331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organisations leap business benefits through a Data and AI platform. Our customers realise topline increase, reduced operational cost and improved business speed.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4128" y="4023360"/>
            <a:ext cx="7680960" cy="4892040"/>
          </a:xfrm>
          <a:prstGeom prst="roundRect">
            <a:avLst>
              <a:gd name="adj" fmla="val 2617"/>
            </a:avLst>
          </a:prstGeom>
          <a:solidFill>
            <a:srgbClr val="1A1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81328" y="42976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D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this proposal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4800600"/>
            <a:ext cx="6766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System</a:t>
            </a:r>
            <a:endParaRPr lang="en-US" sz="2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budget AI agents — preparation, validation, analysis and monitoring.
</a:t>
            </a:r>
            <a:endParaRPr lang="en-US" sz="2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Backbone</a:t>
            </a:r>
            <a:endParaRPr lang="en-US" sz="2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low-code application platform, multi-level budget workflow, business rules engine and integration layer.
</a:t>
            </a:r>
            <a:endParaRPr lang="en-US" sz="2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Platform</a:t>
            </a:r>
            <a:endParaRPr lang="en-US" sz="2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role-based access, multi-organisation control, audit trail and PDPA compliance.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162288" y="2606040"/>
            <a:ext cx="3845052" cy="3127248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 w="12700">
            <a:solidFill>
              <a:srgbClr val="DD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5400000">
            <a:off x="9573768" y="3017520"/>
            <a:ext cx="566928" cy="502920"/>
          </a:xfrm>
          <a:prstGeom prst="hexagon">
            <a:avLst/>
          </a:prstGeom>
          <a:solidFill>
            <a:srgbClr val="2AD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rot="5400000">
            <a:off x="9692640" y="3127248"/>
            <a:ext cx="329184" cy="283464"/>
          </a:xfrm>
          <a:prstGeom prst="hexagon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573768" y="3611880"/>
            <a:ext cx="3022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Powered Apps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573768" y="4142232"/>
            <a:ext cx="30220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set of features for citizens and workers — context summarisation, content writing, knowledge management, task scheduling, meeting minutes, image to text.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3418820" y="2606040"/>
            <a:ext cx="3845052" cy="3127248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 w="12700">
            <a:solidFill>
              <a:srgbClr val="DD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rot="5400000">
            <a:off x="13830300" y="3017520"/>
            <a:ext cx="566928" cy="502920"/>
          </a:xfrm>
          <a:prstGeom prst="hexagon">
            <a:avLst/>
          </a:prstGeom>
          <a:solidFill>
            <a:srgbClr val="2AD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 rot="5400000">
            <a:off x="13949172" y="3127248"/>
            <a:ext cx="329184" cy="283464"/>
          </a:xfrm>
          <a:prstGeom prst="hexagon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830300" y="3611880"/>
            <a:ext cx="3022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System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3830300" y="4142232"/>
            <a:ext cx="30220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improve business operations, cut cost, reduce human workload and eliminate waste. Use cases include end-to-end software development, HR, finance reconciliation and document understanding.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162288" y="6117336"/>
            <a:ext cx="3845052" cy="3127248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 w="12700">
            <a:solidFill>
              <a:srgbClr val="DD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rot="5400000">
            <a:off x="9573768" y="6528816"/>
            <a:ext cx="566928" cy="502920"/>
          </a:xfrm>
          <a:prstGeom prst="hexagon">
            <a:avLst/>
          </a:prstGeom>
          <a:solidFill>
            <a:srgbClr val="2AD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rot="5400000">
            <a:off x="9692640" y="6638544"/>
            <a:ext cx="329184" cy="283464"/>
          </a:xfrm>
          <a:prstGeom prst="hexagon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573768" y="7123176"/>
            <a:ext cx="3022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Backbone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9573768" y="7653528"/>
            <a:ext cx="30220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/ no-code, workflow, identity and access management, API management, case management and data analytics.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3418820" y="6117336"/>
            <a:ext cx="3845052" cy="3127248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 w="12700">
            <a:solidFill>
              <a:srgbClr val="DD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rot="5400000">
            <a:off x="13830300" y="6528816"/>
            <a:ext cx="566928" cy="502920"/>
          </a:xfrm>
          <a:prstGeom prst="hexagon">
            <a:avLst/>
          </a:prstGeom>
          <a:solidFill>
            <a:srgbClr val="2AD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rot="5400000">
            <a:off x="13949172" y="6638544"/>
            <a:ext cx="329184" cy="283464"/>
          </a:xfrm>
          <a:prstGeom prst="hexagon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3830300" y="7123176"/>
            <a:ext cx="3022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Platform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13830300" y="7653528"/>
            <a:ext cx="30220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enterprise security management — threat detection, access control, identity governance, incident response, compliance automation and risk analytics.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9222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232" y="841248"/>
            <a:ext cx="1691640" cy="4800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Avalant.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40" dirty="0">
                <a:solidFill>
                  <a:srgbClr val="1B9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CASES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finance builds already in production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24128" y="2377440"/>
            <a:ext cx="1444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finance-domain work, delivered in Thailand, in production today. Fisko reuses their budget data model, document understanding and workflow components rather than starting from zero.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024128" y="3310128"/>
            <a:ext cx="5120640" cy="5440680"/>
          </a:xfrm>
          <a:prstGeom prst="roundRect">
            <a:avLst>
              <a:gd name="adj" fmla="val 2500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81328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1B9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· PUBLIC FINANCE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81328" y="3986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 Bureau, Thailand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81328" y="45354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Analytics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81328" y="5138928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budget analytics layer — consolidating budget requests, appropriations, transfers and disbursement across government agencies into one analytical model, with utilisation and variance views for budget officers.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16736" y="6784848"/>
            <a:ext cx="4535424" cy="1664208"/>
          </a:xfrm>
          <a:prstGeom prst="roundRect">
            <a:avLst>
              <a:gd name="adj" fmla="val 7692"/>
            </a:avLst>
          </a:prstGeom>
          <a:solidFill>
            <a:srgbClr val="1A1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682496" y="6949440"/>
            <a:ext cx="3803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b="1" kern="0" spc="140" dirty="0">
                <a:solidFill>
                  <a:srgbClr val="2AD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FISKO · M03 &amp; M09
</a:t>
            </a:r>
            <a:r>
              <a:rPr lang="en-US" sz="125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budget vocabulary — requests, appropriations, transfers and disbursement — consolidated across many agencies into one analytical model.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0" y="3310128"/>
            <a:ext cx="5120640" cy="5440680"/>
          </a:xfrm>
          <a:prstGeom prst="roundRect">
            <a:avLst>
              <a:gd name="adj" fmla="val 2500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4088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1B9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HYPERMARKET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040880" y="3986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C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040880" y="45354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Automation — invoice matching &amp; RPA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040880" y="5138928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the finance back office: invoice matching against purchase orders and goods receipts, exception routing to the right owner, and robotic process automation across repetitive accounting tasks.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76288" y="6784848"/>
            <a:ext cx="4535424" cy="1664208"/>
          </a:xfrm>
          <a:prstGeom prst="roundRect">
            <a:avLst>
              <a:gd name="adj" fmla="val 7692"/>
            </a:avLst>
          </a:prstGeom>
          <a:solidFill>
            <a:srgbClr val="1A1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42048" y="6949440"/>
            <a:ext cx="3803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b="1" kern="0" spc="140" dirty="0">
                <a:solidFill>
                  <a:srgbClr val="2AD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FISKO · M07 MONITORING
</a:t>
            </a:r>
            <a:r>
              <a:rPr lang="en-US" sz="125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exception routing and finance automation patterns reused for tracking spending plans against disbursement.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2143232" y="3310128"/>
            <a:ext cx="5120640" cy="5440680"/>
          </a:xfrm>
          <a:prstGeom prst="roundRect">
            <a:avLst>
              <a:gd name="adj" fmla="val 2500"/>
            </a:avLst>
          </a:prstGeom>
          <a:solidFill>
            <a:srgbClr val="F4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600432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1B9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· LIFE &amp; GENERAL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2600432" y="3986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2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Margin Intelligence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2600432" y="45354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channel margin decomposition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00432" y="5138928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5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of product and channel profitability — attributing the result to pricing, product mix, claims experience and acquisition cost, so that a margin movement can be explained rather than only reported.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2435840" y="6784848"/>
            <a:ext cx="4535424" cy="1664208"/>
          </a:xfrm>
          <a:prstGeom prst="roundRect">
            <a:avLst>
              <a:gd name="adj" fmla="val 7692"/>
            </a:avLst>
          </a:prstGeom>
          <a:solidFill>
            <a:srgbClr val="1A1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2801600" y="6949440"/>
            <a:ext cx="3803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b="1" kern="0" spc="140" dirty="0">
                <a:solidFill>
                  <a:srgbClr val="2AD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FISKO · M08 PERFORMANCE
</a:t>
            </a:r>
            <a:r>
              <a:rPr lang="en-US" sz="1250" dirty="0">
                <a:solidFill>
                  <a:srgbClr val="C9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logic that explains a movement rather than only reporting it — applied to budget versus output and outcome.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4946386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8A8BA8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3" name="Oval 2"/>
          <p:cNvSpPr/>
          <p:nvPr/>
        </p:nvSpPr>
        <p:spPr>
          <a:xfrm>
            <a:off x="12435840" y="-2926080"/>
            <a:ext cx="9509760" cy="9509760"/>
          </a:xfrm>
          <a:prstGeom prst="ellipse">
            <a:avLst/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538960" y="5120640"/>
            <a:ext cx="6766560" cy="6766560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960120"/>
            <a:ext cx="2148840" cy="612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" y="2834640"/>
            <a:ext cx="11887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5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CONCEPTUAL SOLUTION DESIGN  ·  VERSION 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154680"/>
            <a:ext cx="124358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Fisko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572000"/>
            <a:ext cx="11887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0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Agency e-Budgeting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669280"/>
            <a:ext cx="115214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ระบบบริหารจัดการงบประมาณอิเล็กทรอนิกส์สำหรับหน่วยรับงบประมาณ (AEBMS)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9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One Budget Platform: From Strategic Planning to Budget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7571231"/>
            <a:ext cx="2377440" cy="45720"/>
          </a:xfrm>
          <a:prstGeom prst="roundRect">
            <a:avLst>
              <a:gd name="adj" fmla="val 20000"/>
            </a:avLst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7818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Conceptual Architecture &amp; Functional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8229600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8A8BA8"/>
                </a:solidFill>
                <a:latin typeface="Calibri"/>
                <a:ea typeface="IBM Plex Sans Thai"/>
                <a:cs typeface="IBM Plex Sans Thai"/>
              </a:rPr>
              <a:t>ตุลาคม 2569  ·  เอกสารเพื่อการหารือ ยังไม่ใช่ข้อกำหนดที่ยืนยันกับ TOR  ·  Presented by Avalant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SOLUTION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Fisko: One Budget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12848"/>
            <a:ext cx="14264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แพลตฟอร์มเดียวสำหรับวงจรงบประมาณทั้งหมด ตั้งแต่การวางแผน จัดทำคำขอ กลั่นกรอง จัดสรร ติดตามการใช้จ่าย จนถึงประเมินผลสัมฤทธิ์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3246120"/>
            <a:ext cx="3028492" cy="4343400"/>
          </a:xfrm>
          <a:prstGeom prst="roundRect">
            <a:avLst>
              <a:gd name="adj" fmla="val 483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9888" y="3611879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9" name="Picture 8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3794759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58568" y="36576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DDDEE9"/>
                </a:solidFill>
                <a:latin typeface="Poppins"/>
                <a:ea typeface="IBM Plex Sans Thai"/>
                <a:cs typeface="IBM Plex Sans Tha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4572000"/>
            <a:ext cx="2296972" cy="8229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Integrated Budget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5486400"/>
            <a:ext cx="22969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บริหารงบประมาณครบวงจร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6217920"/>
            <a:ext cx="229697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ข้อมูลชุดเดียวตั้งแต่แผนถึงผลการดำเนินงาน ลดการส่งไฟล์ Excel และการบันทึกซ้ำระหว่างหน่วยงาน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6940" y="3246120"/>
            <a:ext cx="3028492" cy="4343400"/>
          </a:xfrm>
          <a:prstGeom prst="roundRect">
            <a:avLst>
              <a:gd name="adj" fmla="val 483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92700" y="3611879"/>
            <a:ext cx="731520" cy="73152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6" name="Picture 15" descr="targ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580" y="3794759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61380" y="36576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DDDEE9"/>
                </a:solidFill>
                <a:latin typeface="Poppins"/>
                <a:ea typeface="IBM Plex Sans Thai"/>
                <a:cs typeface="IBM Plex Sans Tha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2700" y="4572000"/>
            <a:ext cx="2296972" cy="8229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Strategy-Driven Budgeting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2700" y="5486400"/>
            <a:ext cx="22969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เชื่อมงบประมาณกับยุทธศาสตร์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2700" y="6217920"/>
            <a:ext cx="229697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ทุกคำขอผูกกับแผนงาน ผลผลิต ตัวชี้วัด และยุทธศาสตร์ชาติ ตรวจความสอดคล้องได้ทันที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9753" y="3246120"/>
            <a:ext cx="3028492" cy="4343400"/>
          </a:xfrm>
          <a:prstGeom prst="roundRect">
            <a:avLst>
              <a:gd name="adj" fmla="val 483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95513" y="3611879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23" name="Picture 22" descr="colla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3" y="3794759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64193" y="36576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DDDEE9"/>
                </a:solidFill>
                <a:latin typeface="Poppins"/>
                <a:ea typeface="IBM Plex Sans Thai"/>
                <a:cs typeface="IBM Plex Sans Tha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5513" y="4572000"/>
            <a:ext cx="2296972" cy="8229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Collaborative Budget Planning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5513" y="5486400"/>
            <a:ext cx="22969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จัดทำร่วมกันหลายระดับ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5513" y="6217920"/>
            <a:ext cx="229697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กอง สำนัก กองแผน และผู้บริหาร ทำงานบน Workflow เดียวกัน พร้อมประวัติทุกรอบการพิจารณา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32566" y="3246120"/>
            <a:ext cx="3028492" cy="4343400"/>
          </a:xfrm>
          <a:prstGeom prst="roundRect">
            <a:avLst>
              <a:gd name="adj" fmla="val 483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298326" y="3611879"/>
            <a:ext cx="731520" cy="73152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0" name="Picture 29" descr="cha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1206" y="3794759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167006" y="36576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DDDEE9"/>
                </a:solidFill>
                <a:latin typeface="Poppins"/>
                <a:ea typeface="IBM Plex Sans Thai"/>
                <a:cs typeface="IBM Plex Sans Tha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8326" y="4572000"/>
            <a:ext cx="2296972" cy="8229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Data-Driven Decision Making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8326" y="5486400"/>
            <a:ext cx="22969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ตัดสินใจด้วยข้อมูล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8326" y="6217920"/>
            <a:ext cx="229697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Dashboard และการเปรียบเทียบย้อนหลัง รายหน่วยงาน รายแผนงาน รายหมวดรายจ่าย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235379" y="3246120"/>
            <a:ext cx="3028492" cy="4343400"/>
          </a:xfrm>
          <a:prstGeom prst="roundRect">
            <a:avLst>
              <a:gd name="adj" fmla="val 483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601139" y="3611879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7" name="Picture 36" descr="robo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84019" y="3794759"/>
            <a:ext cx="365760" cy="365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469819" y="36576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DDDEE9"/>
                </a:solidFill>
                <a:latin typeface="Poppins"/>
                <a:ea typeface="IBM Plex Sans Thai"/>
                <a:cs typeface="IBM Plex Sans Tha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01139" y="4572000"/>
            <a:ext cx="2296972" cy="8229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AI-Assisted Budgeting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01139" y="5486400"/>
            <a:ext cx="229697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AI ช่วยจัดทำและตรวจสอบ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01139" y="6217920"/>
            <a:ext cx="229697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AI Agents ช่วยร่าง ตรวจสอบ และวิเคราะห์คำขอ ส่วนการอนุมัติยังเป็นของผู้มีอำนาจ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" y="8001000"/>
            <a:ext cx="16239744" cy="1051560"/>
          </a:xfrm>
          <a:prstGeom prst="roundRect">
            <a:avLst>
              <a:gd name="adj" fmla="val 12173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81328" y="8001000"/>
            <a:ext cx="15325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เป้าหมาย: ทุกบาทของงบประมาณเชื่อมโยงกับยุทธศาสตร์ ตัวชี้วัด และผลลัพธ์ที่วัดได้ — บนแพลตฟอร์มเดียวที่นำไปใช้ได้ทั้งระดับกรมและกระทรวง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BUDGET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ครอบคลุมทุกขั้นตอนของวงจรงบประมาณ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12848"/>
            <a:ext cx="14264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แต่ละขั้นตอนคือหนึ่งโมดูลของระบบ ข้อมูลไหลต่อเนื่องจากขั้นหนึ่งไปอีกขั้น โดยไม่ต้องบันทึกซ้ำ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3108960"/>
            <a:ext cx="10085832" cy="457200"/>
          </a:xfrm>
          <a:prstGeom prst="roundRect">
            <a:avLst>
              <a:gd name="adj" fmla="val 50000"/>
            </a:avLst>
          </a:prstGeom>
          <a:solidFill>
            <a:srgbClr val="E4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ก่อนได้รับงบประมาณ  ·  Budget Formulation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65408" y="3108960"/>
            <a:ext cx="5989319" cy="457200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หลังได้รับงบประมาณ  ·  Budget Execution</a:t>
            </a:r>
          </a:p>
        </p:txBody>
      </p:sp>
      <p:sp>
        <p:nvSpPr>
          <p:cNvPr id="9" name="Pentagon 8"/>
          <p:cNvSpPr/>
          <p:nvPr/>
        </p:nvSpPr>
        <p:spPr>
          <a:xfrm>
            <a:off x="1024128" y="3840480"/>
            <a:ext cx="1892807" cy="868680"/>
          </a:xfrm>
          <a:prstGeom prst="homePlat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937760"/>
            <a:ext cx="17099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วางแผนยุทธศาสตร์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440680"/>
            <a:ext cx="170992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แผนยุทธศาสตร์ แผนปฏิบัติราชการ ตัวชี้วัด</a:t>
            </a:r>
          </a:p>
        </p:txBody>
      </p:sp>
      <p:sp>
        <p:nvSpPr>
          <p:cNvPr id="12" name="Chevron 11"/>
          <p:cNvSpPr/>
          <p:nvPr/>
        </p:nvSpPr>
        <p:spPr>
          <a:xfrm>
            <a:off x="3072384" y="3840480"/>
            <a:ext cx="1892807" cy="868680"/>
          </a:xfrm>
          <a:prstGeom prst="chevron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937760"/>
            <a:ext cx="17099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จัดทำคำขอ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5440680"/>
            <a:ext cx="170992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คำขอรายโครงการ/กิจกรรม ตามงบรายจ่าย</a:t>
            </a:r>
          </a:p>
        </p:txBody>
      </p:sp>
      <p:sp>
        <p:nvSpPr>
          <p:cNvPr id="15" name="Chevron 14"/>
          <p:cNvSpPr/>
          <p:nvPr/>
        </p:nvSpPr>
        <p:spPr>
          <a:xfrm>
            <a:off x="5120640" y="3840480"/>
            <a:ext cx="1892807" cy="868680"/>
          </a:xfrm>
          <a:prstGeom prst="chevron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4937760"/>
            <a:ext cx="17099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รวบรวมคำขอ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5440680"/>
            <a:ext cx="170992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รวมคำขอทุกหน่วยงานเป็นภาพระดับกรม</a:t>
            </a:r>
          </a:p>
        </p:txBody>
      </p:sp>
      <p:sp>
        <p:nvSpPr>
          <p:cNvPr id="18" name="Chevron 17"/>
          <p:cNvSpPr/>
          <p:nvPr/>
        </p:nvSpPr>
        <p:spPr>
          <a:xfrm>
            <a:off x="7168895" y="3840480"/>
            <a:ext cx="1892807" cy="868680"/>
          </a:xfrm>
          <a:prstGeom prst="chevron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3" y="4937760"/>
            <a:ext cx="17099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กลั่นกรองและอนุมัติ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3" y="5440680"/>
            <a:ext cx="170992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พิจารณาหลายรอบ เก็บวงเงินทุกรอบ</a:t>
            </a:r>
          </a:p>
        </p:txBody>
      </p:sp>
      <p:sp>
        <p:nvSpPr>
          <p:cNvPr id="21" name="Chevron 20"/>
          <p:cNvSpPr/>
          <p:nvPr/>
        </p:nvSpPr>
        <p:spPr>
          <a:xfrm>
            <a:off x="9217151" y="3840480"/>
            <a:ext cx="1892807" cy="868680"/>
          </a:xfrm>
          <a:prstGeom prst="chevron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79" y="4937760"/>
            <a:ext cx="17099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ส่งสำนักงบประมาณ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5440680"/>
            <a:ext cx="170992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ตรวจความครบถ้วน จัดทำชุดข้อมูลส่ง</a:t>
            </a:r>
          </a:p>
        </p:txBody>
      </p:sp>
      <p:sp>
        <p:nvSpPr>
          <p:cNvPr id="24" name="Chevron 23"/>
          <p:cNvSpPr/>
          <p:nvPr/>
        </p:nvSpPr>
        <p:spPr>
          <a:xfrm>
            <a:off x="11265408" y="3840480"/>
            <a:ext cx="1892807" cy="868680"/>
          </a:xfrm>
          <a:prstGeom prst="chevron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75136" y="4937760"/>
            <a:ext cx="17099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จัดสรรงบประมาณ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75136" y="5440680"/>
            <a:ext cx="170992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บันทึกวงเงินที่ได้รับ จัดสรรภายใน</a:t>
            </a:r>
          </a:p>
        </p:txBody>
      </p:sp>
      <p:sp>
        <p:nvSpPr>
          <p:cNvPr id="27" name="Chevron 26"/>
          <p:cNvSpPr/>
          <p:nvPr/>
        </p:nvSpPr>
        <p:spPr>
          <a:xfrm>
            <a:off x="13313663" y="3840480"/>
            <a:ext cx="1892807" cy="868680"/>
          </a:xfrm>
          <a:prstGeom prst="chevron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3391" y="4937760"/>
            <a:ext cx="17099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ติดตามการใช้จ่าย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23391" y="5440680"/>
            <a:ext cx="170992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แผน/ผลการใช้จ่ายและความก้าวหน้า</a:t>
            </a:r>
          </a:p>
        </p:txBody>
      </p:sp>
      <p:sp>
        <p:nvSpPr>
          <p:cNvPr id="30" name="Chevron 29"/>
          <p:cNvSpPr/>
          <p:nvPr/>
        </p:nvSpPr>
        <p:spPr>
          <a:xfrm>
            <a:off x="15361919" y="3840480"/>
            <a:ext cx="1892807" cy="868680"/>
          </a:xfrm>
          <a:prstGeom prst="chevron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71647" y="4937760"/>
            <a:ext cx="170992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ประเมินผลสัมฤทธิ์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71647" y="5440680"/>
            <a:ext cx="170992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เชื่อมงบประมาณกับ Output และ Outcome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6995160"/>
            <a:ext cx="16239744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07008" y="7132320"/>
            <a:ext cx="548640" cy="54864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5" name="Picture 34" descr="ro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7269480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1680" y="69951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M09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699516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699516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AI Agents และการวิเคราะห์ข้อมูล สนับสนุนการตัดสินใจตลอดทุกขั้นตอน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" y="7955280"/>
            <a:ext cx="16239744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07008" y="8092440"/>
            <a:ext cx="548640" cy="54864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41" name="Picture 40" descr="adm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822960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011680" y="795528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1A1B50"/>
                </a:solidFill>
                <a:latin typeface="Poppins"/>
                <a:ea typeface="IBM Plex Sans Thai"/>
                <a:cs typeface="IBM Plex Sans Thai"/>
              </a:rPr>
              <a:t>M10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79552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System Administration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79552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ข้อมูลหลัก โครงสร้างงบประมาณรายปี สิทธิ์ผู้ใช้ และการตั้งค่า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8A8BA8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CONCEPTUAL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Five layers, one budget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12848"/>
            <a:ext cx="14264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โมดูลงบประมาณคือสิ่งที่ผู้ใช้เห็น สิ่งที่ทำให้ระบบปรับได้ทุกปี ตรวจสอบได้ และต่อยอดได้ คือชั้นที่อยู่ข้างใต้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3017520"/>
            <a:ext cx="3566160" cy="914400"/>
          </a:xfrm>
          <a:prstGeom prst="roundRect">
            <a:avLst>
              <a:gd name="adj" fmla="val 14000"/>
            </a:avLst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309067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4930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E4FBE7"/>
                </a:solidFill>
                <a:latin typeface="Calibri"/>
                <a:ea typeface="IBM Plex Sans Thai"/>
                <a:cs typeface="IBM Plex Sans Thai"/>
              </a:rPr>
              <a:t>ผู้ใช้งานและช่องทาง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136391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ผู้บริหาร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9172" y="3136391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กองแผนงาน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2024" y="3136391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สำนัก / กอง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4876" y="3136391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การเงินและบัญชี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77727" y="3136391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ผู้ตรวจสอบ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260579" y="3136391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Web · Mobile ·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050791"/>
            <a:ext cx="3566160" cy="1691640"/>
          </a:xfrm>
          <a:prstGeom prst="roundRect">
            <a:avLst>
              <a:gd name="adj" fmla="val 7567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451256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Budget Management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91489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8 โมดูลงานงบประมาณ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4163567"/>
            <a:ext cx="210540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M01 Strategic Planning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0598" y="4163567"/>
            <a:ext cx="210540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M02 Budget Preparation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4876" y="4163567"/>
            <a:ext cx="210540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M03 Consolidation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19154" y="4163567"/>
            <a:ext cx="210540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M04 Review &amp;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952999"/>
            <a:ext cx="210540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M05 Budget Submission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70598" y="4952999"/>
            <a:ext cx="210540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M06 Budget Allocation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4876" y="4952999"/>
            <a:ext cx="210540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M07 Execution &amp; Monitoring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519154" y="4952999"/>
            <a:ext cx="210540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M08 Performance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5861304"/>
            <a:ext cx="3566160" cy="914400"/>
          </a:xfrm>
          <a:prstGeom prst="roundRect">
            <a:avLst>
              <a:gd name="adj" fmla="val 14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44168" y="593445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Intelligent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63367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AI, Workflow และ Business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980176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Preparation Agent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9172" y="5980176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Validation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2024" y="5980176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Analysis Agent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94876" y="5980176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Monitoring 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77727" y="5980176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Workflow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60579" y="5980176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Business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6894576"/>
            <a:ext cx="3566160" cy="914400"/>
          </a:xfrm>
          <a:prstGeom prst="roundRect">
            <a:avLst>
              <a:gd name="adj" fmla="val 14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44168" y="6967727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Integration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73700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เชื่อมต่อระบบภายนอก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7013448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สำนักงบประมาณ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9172" y="7013448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GFMIS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2024" y="7013448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ERP / การเงิน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94876" y="7013448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HR / Payroll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77727" y="7013448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e-GP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260579" y="7013448"/>
            <a:ext cx="1363979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API Gateway · ETL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" y="7927848"/>
            <a:ext cx="3566160" cy="914400"/>
          </a:xfrm>
          <a:prstGeom prst="roundRect">
            <a:avLst>
              <a:gd name="adj" fmla="val 14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44168" y="800100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Data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0333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ข้อมูลที่ระบบใช้ร่วมกัน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0" y="8046720"/>
            <a:ext cx="166055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Budget Database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25742" y="8046720"/>
            <a:ext cx="166055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Master Data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05164" y="8046720"/>
            <a:ext cx="166055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Historical Budget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84587" y="8046720"/>
            <a:ext cx="166055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Document Repository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964009" y="8046720"/>
            <a:ext cx="166055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Analytics Data Mart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880592" y="3017520"/>
            <a:ext cx="3383280" cy="5824728"/>
          </a:xfrm>
          <a:prstGeom prst="roundRect">
            <a:avLst>
              <a:gd name="adj" fmla="val 4324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246352" y="32918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Security &amp; Governance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246352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ครอบคลุมทุกชั้น ไม่ได้เพิ่มเข้ามาทีหลัง</a:t>
            </a:r>
          </a:p>
        </p:txBody>
      </p:sp>
      <p:sp>
        <p:nvSpPr>
          <p:cNvPr id="56" name="Oval 55"/>
          <p:cNvSpPr/>
          <p:nvPr/>
        </p:nvSpPr>
        <p:spPr>
          <a:xfrm>
            <a:off x="14246352" y="4663440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520672" y="44805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Role-Based Access Control</a:t>
            </a:r>
          </a:p>
        </p:txBody>
      </p:sp>
      <p:sp>
        <p:nvSpPr>
          <p:cNvPr id="58" name="Oval 57"/>
          <p:cNvSpPr/>
          <p:nvPr/>
        </p:nvSpPr>
        <p:spPr>
          <a:xfrm>
            <a:off x="14246352" y="5376672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520672" y="51937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Multi-Organization Support</a:t>
            </a:r>
          </a:p>
        </p:txBody>
      </p:sp>
      <p:sp>
        <p:nvSpPr>
          <p:cNvPr id="60" name="Oval 59"/>
          <p:cNvSpPr/>
          <p:nvPr/>
        </p:nvSpPr>
        <p:spPr>
          <a:xfrm>
            <a:off x="14246352" y="6089904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520672" y="590702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Audit Trail ทุกการเปลี่ยนแปลง</a:t>
            </a:r>
          </a:p>
        </p:txBody>
      </p:sp>
      <p:sp>
        <p:nvSpPr>
          <p:cNvPr id="62" name="Oval 61"/>
          <p:cNvSpPr/>
          <p:nvPr/>
        </p:nvSpPr>
        <p:spPr>
          <a:xfrm>
            <a:off x="14246352" y="6803136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520672" y="662025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Data Encryption</a:t>
            </a:r>
          </a:p>
        </p:txBody>
      </p:sp>
      <p:sp>
        <p:nvSpPr>
          <p:cNvPr id="64" name="Oval 63"/>
          <p:cNvSpPr/>
          <p:nvPr/>
        </p:nvSpPr>
        <p:spPr>
          <a:xfrm>
            <a:off x="14246352" y="7516367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520672" y="733348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PDPA Compliance</a:t>
            </a:r>
          </a:p>
        </p:txBody>
      </p:sp>
      <p:sp>
        <p:nvSpPr>
          <p:cNvPr id="66" name="Oval 65"/>
          <p:cNvSpPr/>
          <p:nvPr/>
        </p:nvSpPr>
        <p:spPr>
          <a:xfrm>
            <a:off x="14246352" y="8229600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520672" y="80467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Backup &amp; Disaster Recovery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ภาพรวมสถาปัตยกรรมระบบ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423160"/>
            <a:ext cx="2011680" cy="6629400"/>
          </a:xfrm>
          <a:prstGeom prst="roundRect">
            <a:avLst>
              <a:gd name="adj" fmla="val 636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606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ผู้ใช้งาน</a:t>
            </a:r>
          </a:p>
        </p:txBody>
      </p:sp>
      <p:sp>
        <p:nvSpPr>
          <p:cNvPr id="8" name="Oval 7"/>
          <p:cNvSpPr/>
          <p:nvPr/>
        </p:nvSpPr>
        <p:spPr>
          <a:xfrm>
            <a:off x="1755648" y="3108960"/>
            <a:ext cx="548640" cy="54864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9" name="Picture 8" descr="exe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07" y="324612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3675887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ผู้บริหาร</a:t>
            </a:r>
          </a:p>
        </p:txBody>
      </p:sp>
      <p:sp>
        <p:nvSpPr>
          <p:cNvPr id="11" name="Oval 10"/>
          <p:cNvSpPr/>
          <p:nvPr/>
        </p:nvSpPr>
        <p:spPr>
          <a:xfrm>
            <a:off x="1755648" y="4069080"/>
            <a:ext cx="548640" cy="54864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2" name="Picture 11" descr="pla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807" y="4206240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" y="4636008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กองแผนงาน</a:t>
            </a:r>
          </a:p>
        </p:txBody>
      </p:sp>
      <p:sp>
        <p:nvSpPr>
          <p:cNvPr id="14" name="Oval 13"/>
          <p:cNvSpPr/>
          <p:nvPr/>
        </p:nvSpPr>
        <p:spPr>
          <a:xfrm>
            <a:off x="1755648" y="5029200"/>
            <a:ext cx="548640" cy="54864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5" name="Picture 14" descr="div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2807" y="516636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5596128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สำนัก / กอง</a:t>
            </a:r>
          </a:p>
        </p:txBody>
      </p:sp>
      <p:sp>
        <p:nvSpPr>
          <p:cNvPr id="17" name="Oval 16"/>
          <p:cNvSpPr/>
          <p:nvPr/>
        </p:nvSpPr>
        <p:spPr>
          <a:xfrm>
            <a:off x="1755648" y="5989320"/>
            <a:ext cx="548640" cy="54864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8" name="Picture 17" descr="f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807" y="612648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556248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การเงิน</a:t>
            </a:r>
          </a:p>
        </p:txBody>
      </p:sp>
      <p:sp>
        <p:nvSpPr>
          <p:cNvPr id="20" name="Oval 19"/>
          <p:cNvSpPr/>
          <p:nvPr/>
        </p:nvSpPr>
        <p:spPr>
          <a:xfrm>
            <a:off x="1755648" y="6949440"/>
            <a:ext cx="548640" cy="54864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21" name="Picture 20" descr="audi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2807" y="708660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7516367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ผู้ตรวจสอบ</a:t>
            </a:r>
          </a:p>
        </p:txBody>
      </p:sp>
      <p:sp>
        <p:nvSpPr>
          <p:cNvPr id="23" name="Oval 22"/>
          <p:cNvSpPr/>
          <p:nvPr/>
        </p:nvSpPr>
        <p:spPr>
          <a:xfrm>
            <a:off x="1755648" y="7909560"/>
            <a:ext cx="548640" cy="54864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24" name="Picture 23" descr="admi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2807" y="804672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" y="8476488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ผู้ดูแลระบบ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2423160"/>
            <a:ext cx="1920240" cy="6629400"/>
          </a:xfrm>
          <a:prstGeom prst="roundRect">
            <a:avLst>
              <a:gd name="adj" fmla="val 666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260604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Channels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93008" y="315468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Web Portal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3008" y="406908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Mobile (Responsive)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498348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Executive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3008" y="589788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Notification · e-mail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63240" y="5669280"/>
            <a:ext cx="219456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0" y="2423160"/>
            <a:ext cx="1554480" cy="6629400"/>
          </a:xfrm>
          <a:prstGeom prst="roundRect">
            <a:avLst>
              <a:gd name="adj" fmla="val 8235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26517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Access Gateway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50992" y="3566160"/>
            <a:ext cx="1225295" cy="640080"/>
          </a:xfrm>
          <a:prstGeom prst="roundRect">
            <a:avLst>
              <a:gd name="adj" fmla="val 14285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API Gateway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50992" y="4434840"/>
            <a:ext cx="1225295" cy="640080"/>
          </a:xfrm>
          <a:prstGeom prst="roundRect">
            <a:avLst>
              <a:gd name="adj" fmla="val 14285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IAM / SSO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50992" y="5303520"/>
            <a:ext cx="1225295" cy="640080"/>
          </a:xfrm>
          <a:prstGeom prst="roundRect">
            <a:avLst>
              <a:gd name="adj" fmla="val 14285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RBAC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50992" y="6172200"/>
            <a:ext cx="1225295" cy="640080"/>
          </a:xfrm>
          <a:prstGeom prst="roundRect">
            <a:avLst>
              <a:gd name="adj" fmla="val 14285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Audit Log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57800" y="5669280"/>
            <a:ext cx="201168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15200" y="2423160"/>
            <a:ext cx="6172200" cy="3611880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9050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5532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Fisko Application  ·  Low-code Platform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315468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E4FBE7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M01 Strategic Planning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69880" y="315468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E4FBE7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M02 Preparation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370332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E4FBE7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M03 Consolidation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69880" y="370332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E4FBE7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M04 Review &amp; Approval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425196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E4FBE7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M05 Submission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69880" y="425196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M06 Allocation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35240" y="480060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M07 Execution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69880" y="480060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M08 Performance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35240" y="534924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M09 Intelligence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69880" y="5349240"/>
            <a:ext cx="2697479" cy="457200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M10 Admin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68312" y="4160520"/>
            <a:ext cx="219456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315200" y="6217920"/>
            <a:ext cx="1146657" cy="1051560"/>
          </a:xfrm>
          <a:prstGeom prst="roundRect">
            <a:avLst>
              <a:gd name="adj" fmla="val 1043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88352" y="6373368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Workflow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8352" y="6766560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Engine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888528" y="6062472"/>
            <a:ext cx="0" cy="12801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571585" y="6217920"/>
            <a:ext cx="1146657" cy="1051560"/>
          </a:xfrm>
          <a:prstGeom prst="roundRect">
            <a:avLst>
              <a:gd name="adj" fmla="val 1043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44737" y="6373368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Rules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4737" y="6766560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Engine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44914" y="6062472"/>
            <a:ext cx="0" cy="12801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827971" y="6217920"/>
            <a:ext cx="1146657" cy="1051560"/>
          </a:xfrm>
          <a:prstGeom prst="roundRect">
            <a:avLst>
              <a:gd name="adj" fmla="val 1043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1123" y="6373368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AI Agents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1123" y="6766560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Platform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401300" y="6062472"/>
            <a:ext cx="0" cy="12801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1084356" y="6217920"/>
            <a:ext cx="1146657" cy="1051560"/>
          </a:xfrm>
          <a:prstGeom prst="roundRect">
            <a:avLst>
              <a:gd name="adj" fmla="val 1043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57508" y="6373368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Document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7508" y="6766560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AI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1657685" y="6062472"/>
            <a:ext cx="0" cy="12801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2340742" y="6217920"/>
            <a:ext cx="1146657" cy="1051560"/>
          </a:xfrm>
          <a:prstGeom prst="roundRect">
            <a:avLst>
              <a:gd name="adj" fmla="val 1043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413894" y="6373368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BI Engine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413894" y="6766560"/>
            <a:ext cx="100035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Reports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2914071" y="6062472"/>
            <a:ext cx="0" cy="12801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7315200" y="7498080"/>
            <a:ext cx="1965960" cy="1554479"/>
          </a:xfrm>
          <a:prstGeom prst="roundRect">
            <a:avLst>
              <a:gd name="adj" fmla="val 7058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498079" y="8001000"/>
            <a:ext cx="548640" cy="54864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75" name="Picture 74" descr="db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8138160"/>
            <a:ext cx="274320" cy="27432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183879" y="7498080"/>
            <a:ext cx="1005839" cy="15544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Database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PostgreSQL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7498080"/>
            <a:ext cx="1965960" cy="1554479"/>
          </a:xfrm>
          <a:prstGeom prst="roundRect">
            <a:avLst>
              <a:gd name="adj" fmla="val 7058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01200" y="8001000"/>
            <a:ext cx="548640" cy="54864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79" name="Picture 78" descr="folder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8360" y="8138160"/>
            <a:ext cx="274320" cy="27432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287000" y="7498080"/>
            <a:ext cx="1005839" cy="15544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Document Repository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521440" y="7498080"/>
            <a:ext cx="1965960" cy="1554479"/>
          </a:xfrm>
          <a:prstGeom prst="roundRect">
            <a:avLst>
              <a:gd name="adj" fmla="val 7058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704319" y="8001000"/>
            <a:ext cx="548640" cy="54864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83" name="Picture 82" descr="db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41480" y="8138160"/>
            <a:ext cx="274320" cy="27432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2390119" y="7498080"/>
            <a:ext cx="1005839" cy="15544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Analytics Data Mart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888528" y="7296912"/>
            <a:ext cx="0" cy="17373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144914" y="7296912"/>
            <a:ext cx="0" cy="17373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401300" y="7296912"/>
            <a:ext cx="0" cy="17373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657685" y="7296912"/>
            <a:ext cx="0" cy="17373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2914071" y="7296912"/>
            <a:ext cx="0" cy="17373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13761720" y="2423160"/>
            <a:ext cx="3502152" cy="6629400"/>
          </a:xfrm>
          <a:prstGeom prst="roundRect">
            <a:avLst>
              <a:gd name="adj" fmla="val 3655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036040" y="2651760"/>
            <a:ext cx="29535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Integration Layer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036040" y="3063239"/>
            <a:ext cx="29535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REST API · Data Exchange · ETL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4036040" y="3611880"/>
            <a:ext cx="2953512" cy="868680"/>
          </a:xfrm>
          <a:prstGeom prst="roundRect">
            <a:avLst>
              <a:gd name="adj" fmla="val 10526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218920" y="3703320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New e-Budgeting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218920" y="4069080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สำนักงบประมาณ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4036040" y="4663440"/>
            <a:ext cx="2953512" cy="868680"/>
          </a:xfrm>
          <a:prstGeom prst="roundRect">
            <a:avLst>
              <a:gd name="adj" fmla="val 10526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218920" y="4754879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New GFMIS Thai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218920" y="5120640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การเบิกจ่าย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4036040" y="5715000"/>
            <a:ext cx="2953512" cy="868680"/>
          </a:xfrm>
          <a:prstGeom prst="roundRect">
            <a:avLst>
              <a:gd name="adj" fmla="val 10526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218920" y="5806440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ERP / Financial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218920" y="6172200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บัญชีและการเงิน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4036040" y="6766560"/>
            <a:ext cx="2953512" cy="868680"/>
          </a:xfrm>
          <a:prstGeom prst="roundRect">
            <a:avLst>
              <a:gd name="adj" fmla="val 10526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4218920" y="6858000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e-GP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218920" y="7223760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จัดซื้อจัดจ้าง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4036040" y="7818120"/>
            <a:ext cx="2953512" cy="868680"/>
          </a:xfrm>
          <a:prstGeom prst="roundRect">
            <a:avLst>
              <a:gd name="adj" fmla="val 10526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218920" y="7909560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HR / Payroll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218920" y="8275320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ข้อมูลบุคลากร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3514832" y="4160520"/>
            <a:ext cx="219456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13514832" y="8503920"/>
            <a:ext cx="219456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USERS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ผู้ใช้ 6 กลุ่ม ทำงานบนข้อมูลชุดเดียวกัน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21031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โมดูลที่ใช้งานหลัก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514600"/>
            <a:ext cx="16239744" cy="932688"/>
          </a:xfrm>
          <a:prstGeom prst="roundRect">
            <a:avLst>
              <a:gd name="adj" fmla="val 1372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2660904"/>
            <a:ext cx="640080" cy="64008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9" name="Picture 8" descr="exe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80" y="2820924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2514600"/>
            <a:ext cx="384048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ผู้บริหาร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14600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ติดตามภาพรวม อนุมัติวงเงิน และใช้ข้อมูลวิเคราะห์ประกอบการตัดสินใจ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2752344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18719" y="2752344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0" y="2752344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593591"/>
            <a:ext cx="16239744" cy="932688"/>
          </a:xfrm>
          <a:prstGeom prst="roundRect">
            <a:avLst>
              <a:gd name="adj" fmla="val 1372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3739896"/>
            <a:ext cx="640080" cy="64008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7" name="Picture 16" descr="pla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180" y="3899915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194560" y="3593591"/>
            <a:ext cx="384048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กองแผนงาน / กองยุทธศาสตร์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593591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กำหนดกรอบ รวบรวม กลั่นกรอง และจัดทำคำขอระดับหน่วยรับงบประมาณ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521440" y="3831335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618719" y="3831335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0" y="3831335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813280" y="3831335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910559" y="3831335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672583"/>
            <a:ext cx="16239744" cy="932688"/>
          </a:xfrm>
          <a:prstGeom prst="roundRect">
            <a:avLst>
              <a:gd name="adj" fmla="val 1372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80160" y="4818888"/>
            <a:ext cx="640080" cy="64008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27" name="Picture 26" descr="div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180" y="4978907"/>
            <a:ext cx="320040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194560" y="4672583"/>
            <a:ext cx="384048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สำนัก / กอง (ผู้จัดทำคำขอ)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672583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จัดทำคำของบประมาณรายโครงการ และรายงานผลการดำเนินงานและการใช้จ่าย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21440" y="4910327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618719" y="4910327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0" y="4910327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5751576"/>
            <a:ext cx="16239744" cy="932688"/>
          </a:xfrm>
          <a:prstGeom prst="roundRect">
            <a:avLst>
              <a:gd name="adj" fmla="val 1372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80160" y="5897880"/>
            <a:ext cx="640080" cy="64008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5" name="Picture 34" descr="fi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0180" y="605790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194560" y="5751576"/>
            <a:ext cx="384048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การเงินและบัญชี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751576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บริหารวงเงิน จัดสรร โอนเปลี่ยนแปลง และติดตามผลการเบิกจ่าย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521440" y="5989320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618719" y="5989320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6830568"/>
            <a:ext cx="16239744" cy="932688"/>
          </a:xfrm>
          <a:prstGeom prst="roundRect">
            <a:avLst>
              <a:gd name="adj" fmla="val 1372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80160" y="6976872"/>
            <a:ext cx="640080" cy="64008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42" name="Picture 41" descr="audi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180" y="7136892"/>
            <a:ext cx="320040" cy="3200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194560" y="6830568"/>
            <a:ext cx="384048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ผู้ตรวจสอบ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6830568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ตรวจสอบย้อนหลังผ่าน Audit Trail และประวัติการพิจารณาทุกรอบ (อ่านอย่างเดียว)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521440" y="7068312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M04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618719" y="7068312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4128" y="7909559"/>
            <a:ext cx="16239744" cy="932688"/>
          </a:xfrm>
          <a:prstGeom prst="roundRect">
            <a:avLst>
              <a:gd name="adj" fmla="val 1372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80160" y="8055863"/>
            <a:ext cx="640080" cy="640080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49" name="Picture 48" descr="admi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0180" y="8215883"/>
            <a:ext cx="320040" cy="3200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194560" y="7909559"/>
            <a:ext cx="384048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ผู้ดูแลระบบ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7909559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ดูแลข้อมูลหลัก โครงสร้างงบประมาณรายปี สิทธิ์ผู้ใช้ และสายอนุมัติ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521440" y="8147303"/>
            <a:ext cx="96926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M10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FUNCTIONAL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10 โมดูลหลัก ใน 3 กลุ่มงาน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423160"/>
            <a:ext cx="5230368" cy="777240"/>
          </a:xfrm>
          <a:prstGeom prst="roundRect">
            <a:avLst>
              <a:gd name="adj" fmla="val 16470"/>
            </a:avLst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24231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Budget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423160"/>
            <a:ext cx="1664207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E4FBE7"/>
                </a:solidFill>
                <a:latin typeface="Calibri"/>
                <a:ea typeface="IBM Plex Sans Thai"/>
                <a:cs typeface="IBM Plex Sans Thai"/>
              </a:rPr>
              <a:t>ก่อนได้รับงบประมาณ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3337560"/>
            <a:ext cx="5230368" cy="960120"/>
          </a:xfrm>
          <a:prstGeom prst="roundRect">
            <a:avLst>
              <a:gd name="adj" fmla="val 1333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52728" y="3488436"/>
            <a:ext cx="658368" cy="658368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3415284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Strategic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835907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แผนยุทธศาสตร์ แผนปฏิบัติราชการ ตัวชี้วัด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4425696"/>
            <a:ext cx="5230368" cy="960120"/>
          </a:xfrm>
          <a:prstGeom prst="roundRect">
            <a:avLst>
              <a:gd name="adj" fmla="val 1333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728" y="4576572"/>
            <a:ext cx="658368" cy="658368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450342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4924044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คำของบประมาณรายโครงการ/กิจกรรม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513831"/>
            <a:ext cx="5230368" cy="960120"/>
          </a:xfrm>
          <a:prstGeom prst="roundRect">
            <a:avLst>
              <a:gd name="adj" fmla="val 1333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52728" y="5664707"/>
            <a:ext cx="658368" cy="658368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5591555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Consolidation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6012179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รวบรวมคำขอ ตรวจซ้ำซ้อน จัดลำดับความสำคัญ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601968"/>
            <a:ext cx="5230368" cy="960120"/>
          </a:xfrm>
          <a:prstGeom prst="roundRect">
            <a:avLst>
              <a:gd name="adj" fmla="val 1333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52728" y="6752844"/>
            <a:ext cx="658368" cy="658368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6679692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Review &amp;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7100316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กลั่นกรองหลายรอบ เก็บวงเงินและเหตุผลทุกรอบ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7690104"/>
            <a:ext cx="5230368" cy="960120"/>
          </a:xfrm>
          <a:prstGeom prst="roundRect">
            <a:avLst>
              <a:gd name="adj" fmla="val 1333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52728" y="7840980"/>
            <a:ext cx="658368" cy="658368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408" y="7767828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8188452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ชุดข้อมูลและแบบฟอร์มส่งสำนักงบประมาณ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2423160"/>
            <a:ext cx="5230368" cy="777240"/>
          </a:xfrm>
          <a:prstGeom prst="roundRect">
            <a:avLst>
              <a:gd name="adj" fmla="val 16470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5" y="24231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Execution &amp;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6" y="2423160"/>
            <a:ext cx="1664207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หลังได้รับงบประมาณ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28816" y="3337560"/>
            <a:ext cx="5230368" cy="960120"/>
          </a:xfrm>
          <a:prstGeom prst="roundRect">
            <a:avLst>
              <a:gd name="adj" fmla="val 1333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57416" y="3488436"/>
            <a:ext cx="658368" cy="658368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3415284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Allocation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6096" y="3835907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บันทึกวงเงินที่ได้รับ จัดสรร โอนเปลี่ยนแปลง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28816" y="4425696"/>
            <a:ext cx="5230368" cy="960120"/>
          </a:xfrm>
          <a:prstGeom prst="roundRect">
            <a:avLst>
              <a:gd name="adj" fmla="val 1333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757416" y="4576572"/>
            <a:ext cx="658368" cy="658368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6096" y="4503420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Execution &amp;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924044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แผน/ผลการใช้จ่ายและความก้าวหน้าโครงการ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28816" y="5513831"/>
            <a:ext cx="5230368" cy="960120"/>
          </a:xfrm>
          <a:prstGeom prst="roundRect">
            <a:avLst>
              <a:gd name="adj" fmla="val 13333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7416" y="5664707"/>
            <a:ext cx="658368" cy="658368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6096" y="5591555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6096" y="6012179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เชื่อมงบประมาณกับ Output, Outcome, Impact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033504" y="2423160"/>
            <a:ext cx="5230368" cy="777240"/>
          </a:xfrm>
          <a:prstGeom prst="roundRect">
            <a:avLst>
              <a:gd name="adj" fmla="val 1647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53544" y="24231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Intelligence &amp;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25344" y="2423160"/>
            <a:ext cx="1664207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รองรับทุกโมดูล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033504" y="3337560"/>
            <a:ext cx="5230368" cy="1504188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262104" y="3760470"/>
            <a:ext cx="658368" cy="658368"/>
          </a:xfrm>
          <a:prstGeom prst="ellipse">
            <a:avLst/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30784" y="3687318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Intelligence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30784" y="4107941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AI Agents และการวิเคราะห์เพื่อสนับสนุนการตัดสินใจ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033504" y="4969764"/>
            <a:ext cx="5230368" cy="1504188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262104" y="5392674"/>
            <a:ext cx="658368" cy="658368"/>
          </a:xfrm>
          <a:prstGeom prst="ellipse">
            <a:avLst/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130784" y="5319522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System Administration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130784" y="5740146"/>
            <a:ext cx="395020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ข้อมูลหลัก โครงสร้างงบประมาณ สิทธิ์ และ Workflow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28816" y="6766560"/>
            <a:ext cx="10735056" cy="1883664"/>
          </a:xfrm>
          <a:prstGeom prst="roundRect">
            <a:avLst>
              <a:gd name="adj" fmla="val 6796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86016" y="6766560"/>
            <a:ext cx="9820656" cy="18836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แนวทางรุ่นแรก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M01–M05 และ M10 เป็นแกนของผลิตภัณฑ์รุ่นแรก — เป็นกระบวนการที่หน่วยรับงบประมาณต้องทำทุกปี M06–M09 ออกแบบให้เพิ่มเติมได้โดยไม่ต้องเปลี่ยนสถาปัตยกรรมหลัก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M01 · M02 — PLAN &amp; PREPARE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จากยุทธศาสตร์สู่คำของบประมาณ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423160"/>
            <a:ext cx="5120640" cy="6629400"/>
          </a:xfrm>
          <a:prstGeom prst="roundRect">
            <a:avLst>
              <a:gd name="adj" fmla="val 2857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9888" y="2743200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2743200"/>
            <a:ext cx="365759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Strategic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3749039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จัดทำแผนยุทธศาสตร์หน่วยงาน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แผนปฏิบัติราชการระยะ 5 ปี และรายปี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เป้าประสงค์ ตัวชี้วัด และค่าเป้าหมาย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เชื่อมโยงยุทธศาสตร์ชาติและแผนระดับต่าง ๆ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โครงสร้างแผนงาน ผลผลิต โครงการ กิจกรรม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ผู้รับผิดชอบและหน่วยงานเจ้าของโครงการ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ติดตามความสอดคล้องระหว่างแผนกับคำขอ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9888" y="8092440"/>
            <a:ext cx="4389120" cy="640080"/>
          </a:xfrm>
          <a:prstGeom prst="roundRect">
            <a:avLst>
              <a:gd name="adj" fmla="val 17142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ผลลัพธ์: Strategic Budget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423160"/>
            <a:ext cx="5120640" cy="6629400"/>
          </a:xfrm>
          <a:prstGeom prst="roundRect">
            <a:avLst>
              <a:gd name="adj" fmla="val 2857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0" y="2743200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743200"/>
            <a:ext cx="365759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49039"/>
            <a:ext cx="4389120" cy="402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คำของบประมาณรายโครงการ / กิจกรรม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ประมาณการรายจ่ายตามหมวดและรายการ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คำขอผูกพันต่อเนื่องหลายปี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เหตุผลความจำเป็นและเอกสารประกอบ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ตัวชี้วัด ผลผลิต และผลลัพธ์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รายละเอียดครุภัณฑ์และสิ่งก่อสร้าง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ตรวจความครบถ้วนและคำนวณอัตโนมัติ</a:t>
            </a:r>
          </a:p>
          <a:p>
            <a:pPr algn="l" marL="201168" indent="-201168">
              <a:lnSpc>
                <a:spcPct val="100000"/>
              </a:lnSpc>
              <a:spcAft>
                <a:spcPts val="1000"/>
              </a:spcAft>
              <a:buClr>
                <a:srgbClr val="1B9E29"/>
              </a:buClr>
              <a:buFont typeface="Arial"/>
              <a:buChar char="•"/>
            </a:pPr>
            <a:r>
              <a:rPr sz="15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เปรียบเทียบงบประมาณย้อนหลัง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76809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รองรับงบรายจ่ายตามหลักเกณฑ์ประจำปี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8046720"/>
            <a:ext cx="1389888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งบบุคลากร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8046720"/>
            <a:ext cx="1389888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งบดำเนินงาน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29216" y="8046720"/>
            <a:ext cx="1389888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งบลงทุน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8503920"/>
            <a:ext cx="1389888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งบเงินอุดหนุน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8503920"/>
            <a:ext cx="1389888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งบรายจ่ายอื่น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95760" y="2423160"/>
            <a:ext cx="5468112" cy="6629400"/>
          </a:xfrm>
          <a:prstGeom prst="roundRect">
            <a:avLst>
              <a:gd name="adj" fmla="val 2675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20" y="2697479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โครงสร้างข้อมูลคำของบประมาณ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61520" y="3246120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ปีงบประมาณ</a:t>
            </a:r>
          </a:p>
        </p:txBody>
      </p:sp>
      <p:sp>
        <p:nvSpPr>
          <p:cNvPr id="24" name="Freeform 23"/>
          <p:cNvSpPr/>
          <p:nvPr/>
        </p:nvSpPr>
        <p:spPr>
          <a:xfrm>
            <a:off x="12298680" y="3511296"/>
            <a:ext cx="155448" cy="429767"/>
          </a:xfrm>
          <a:custGeom>
            <a:avLst/>
            <a:gdLst/>
            <a:ahLst/>
            <a:cxnLst/>
            <a:rect l="l" t="t" r="r" b="b"/>
            <a:pathLst>
              <a:path w="155448" h="429767">
                <a:moveTo>
                  <a:pt x="0" y="0"/>
                </a:moveTo>
                <a:lnTo>
                  <a:pt x="0" y="429767"/>
                </a:lnTo>
                <a:lnTo>
                  <a:pt x="155448" y="429767"/>
                </a:lnTo>
              </a:path>
            </a:pathLst>
          </a:custGeom>
          <a:noFill/>
          <a:ln w="15875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454128" y="3739896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หน่วยรับงบประมาณ</a:t>
            </a:r>
          </a:p>
        </p:txBody>
      </p:sp>
      <p:sp>
        <p:nvSpPr>
          <p:cNvPr id="26" name="Freeform 25"/>
          <p:cNvSpPr/>
          <p:nvPr/>
        </p:nvSpPr>
        <p:spPr>
          <a:xfrm>
            <a:off x="12591288" y="4005072"/>
            <a:ext cx="155448" cy="429768"/>
          </a:xfrm>
          <a:custGeom>
            <a:avLst/>
            <a:gdLst/>
            <a:ahLst/>
            <a:cxnLst/>
            <a:rect l="l" t="t" r="r" b="b"/>
            <a:pathLst>
              <a:path w="155448" h="429768">
                <a:moveTo>
                  <a:pt x="0" y="0"/>
                </a:moveTo>
                <a:lnTo>
                  <a:pt x="0" y="429768"/>
                </a:lnTo>
                <a:lnTo>
                  <a:pt x="155448" y="429768"/>
                </a:lnTo>
              </a:path>
            </a:pathLst>
          </a:custGeom>
          <a:noFill/>
          <a:ln w="15875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746736" y="4233672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แผนงาน</a:t>
            </a:r>
          </a:p>
        </p:txBody>
      </p:sp>
      <p:sp>
        <p:nvSpPr>
          <p:cNvPr id="28" name="Freeform 27"/>
          <p:cNvSpPr/>
          <p:nvPr/>
        </p:nvSpPr>
        <p:spPr>
          <a:xfrm>
            <a:off x="12883896" y="4498848"/>
            <a:ext cx="155448" cy="429768"/>
          </a:xfrm>
          <a:custGeom>
            <a:avLst/>
            <a:gdLst/>
            <a:ahLst/>
            <a:cxnLst/>
            <a:rect l="l" t="t" r="r" b="b"/>
            <a:pathLst>
              <a:path w="155448" h="429768">
                <a:moveTo>
                  <a:pt x="0" y="0"/>
                </a:moveTo>
                <a:lnTo>
                  <a:pt x="0" y="429768"/>
                </a:lnTo>
                <a:lnTo>
                  <a:pt x="155448" y="429768"/>
                </a:lnTo>
              </a:path>
            </a:pathLst>
          </a:custGeom>
          <a:noFill/>
          <a:ln w="15875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039344" y="4727448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ผลผลิต / โครงการ</a:t>
            </a:r>
          </a:p>
        </p:txBody>
      </p:sp>
      <p:sp>
        <p:nvSpPr>
          <p:cNvPr id="30" name="Freeform 29"/>
          <p:cNvSpPr/>
          <p:nvPr/>
        </p:nvSpPr>
        <p:spPr>
          <a:xfrm>
            <a:off x="13176504" y="4992624"/>
            <a:ext cx="155448" cy="429768"/>
          </a:xfrm>
          <a:custGeom>
            <a:avLst/>
            <a:gdLst/>
            <a:ahLst/>
            <a:cxnLst/>
            <a:rect l="l" t="t" r="r" b="b"/>
            <a:pathLst>
              <a:path w="155448" h="429768">
                <a:moveTo>
                  <a:pt x="0" y="0"/>
                </a:moveTo>
                <a:lnTo>
                  <a:pt x="0" y="429768"/>
                </a:lnTo>
                <a:lnTo>
                  <a:pt x="155448" y="429768"/>
                </a:lnTo>
              </a:path>
            </a:pathLst>
          </a:custGeom>
          <a:noFill/>
          <a:ln w="15875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331952" y="5221224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กิจกรรม</a:t>
            </a:r>
          </a:p>
        </p:txBody>
      </p:sp>
      <p:sp>
        <p:nvSpPr>
          <p:cNvPr id="32" name="Freeform 31"/>
          <p:cNvSpPr/>
          <p:nvPr/>
        </p:nvSpPr>
        <p:spPr>
          <a:xfrm>
            <a:off x="13469112" y="5486400"/>
            <a:ext cx="155448" cy="429768"/>
          </a:xfrm>
          <a:custGeom>
            <a:avLst/>
            <a:gdLst/>
            <a:ahLst/>
            <a:cxnLst/>
            <a:rect l="l" t="t" r="r" b="b"/>
            <a:pathLst>
              <a:path w="155448" h="429768">
                <a:moveTo>
                  <a:pt x="0" y="0"/>
                </a:moveTo>
                <a:lnTo>
                  <a:pt x="0" y="429768"/>
                </a:lnTo>
                <a:lnTo>
                  <a:pt x="155448" y="429768"/>
                </a:lnTo>
              </a:path>
            </a:pathLst>
          </a:custGeom>
          <a:noFill/>
          <a:ln w="15875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624560" y="5715000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หมวดรายจ่าย</a:t>
            </a:r>
          </a:p>
        </p:txBody>
      </p:sp>
      <p:sp>
        <p:nvSpPr>
          <p:cNvPr id="34" name="Freeform 33"/>
          <p:cNvSpPr/>
          <p:nvPr/>
        </p:nvSpPr>
        <p:spPr>
          <a:xfrm>
            <a:off x="13761720" y="5980176"/>
            <a:ext cx="155448" cy="429768"/>
          </a:xfrm>
          <a:custGeom>
            <a:avLst/>
            <a:gdLst/>
            <a:ahLst/>
            <a:cxnLst/>
            <a:rect l="l" t="t" r="r" b="b"/>
            <a:pathLst>
              <a:path w="155448" h="429768">
                <a:moveTo>
                  <a:pt x="0" y="0"/>
                </a:moveTo>
                <a:lnTo>
                  <a:pt x="0" y="429768"/>
                </a:lnTo>
                <a:lnTo>
                  <a:pt x="155448" y="429768"/>
                </a:lnTo>
              </a:path>
            </a:pathLst>
          </a:custGeom>
          <a:noFill/>
          <a:ln w="15875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917168" y="6208776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รายการงบประมาณ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00048" y="6757416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0"/>
              </a:spcAft>
              <a:buClr>
                <a:srgbClr val="2AD03D"/>
              </a:buClr>
              <a:buFont typeface="Arial"/>
              <a:buChar char="•"/>
            </a:pPr>
            <a:r>
              <a:rPr sz="12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จำนวน × ราคาต่อหน่วย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00048" y="7059168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0"/>
              </a:spcAft>
              <a:buClr>
                <a:srgbClr val="2AD03D"/>
              </a:buClr>
              <a:buFont typeface="Arial"/>
              <a:buChar char="•"/>
            </a:pPr>
            <a:r>
              <a:rPr sz="12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= วงเงินรวม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00048" y="7360919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0"/>
              </a:spcAft>
              <a:buClr>
                <a:srgbClr val="2AD03D"/>
              </a:buClr>
              <a:buFont typeface="Arial"/>
              <a:buChar char="•"/>
            </a:pPr>
            <a:r>
              <a:rPr sz="12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เหตุผลความจำเป็น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00048" y="7662671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0"/>
              </a:spcAft>
              <a:buClr>
                <a:srgbClr val="2AD03D"/>
              </a:buClr>
              <a:buFont typeface="Arial"/>
              <a:buChar char="•"/>
            </a:pPr>
            <a:r>
              <a:rPr sz="12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ตัวชี้วัด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0048" y="7964423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0"/>
              </a:spcAft>
              <a:buClr>
                <a:srgbClr val="2AD03D"/>
              </a:buClr>
              <a:buFont typeface="Arial"/>
              <a:buChar char="•"/>
            </a:pPr>
            <a:r>
              <a:rPr sz="12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เอกสารประกอบ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0" y="8668512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8A8BA8"/>
                </a:solidFill>
                <a:latin typeface="Calibri"/>
                <a:ea typeface="IBM Plex Sans Thai"/>
                <a:cs typeface="IBM Plex Sans Thai"/>
              </a:rPr>
              <a:t>ปรับได้ตามแบบฟอร์มสำนักงบประมาณของแต่ละปี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M03 · M04 · M05 — CONSOLIDATE, REVIEW,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กลั่นกรองหลายรอบ โดยไม่เขียนทับข้อมูลเดิม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423160"/>
            <a:ext cx="7680960" cy="2103120"/>
          </a:xfrm>
          <a:prstGeom prst="roundRect">
            <a:avLst>
              <a:gd name="adj" fmla="val 695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4168" y="2743200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2697479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Consolidation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3154680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รวบรวมคำขอจากหลายหน่วยงานเข้าสู่ระดับกรม/กระทรวง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3566160"/>
            <a:ext cx="61264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รวบรวมอัตโนมัติ · ตรวจรายการซ้ำซ้อน · เปรียบเทียบรายหน่วยงานและรายแผนงาน · จัดลำดับความสำคัญ · กรอบวงเงินเบื้องต้น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4681727"/>
            <a:ext cx="7680960" cy="2103120"/>
          </a:xfrm>
          <a:prstGeom prst="roundRect">
            <a:avLst>
              <a:gd name="adj" fmla="val 695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4168" y="5001767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4956047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Review &amp;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5413247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พิจารณา กลั่นกรอง และปรับปรุงคำขอได้หลายรอบ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5824727"/>
            <a:ext cx="61264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บันทึกวงเงินแต่ละรอบ · เหตุผลการปรับ · ประวัติการเปลี่ยนแปลง · รายงานสรุปเสนอผู้บริหาร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6940296"/>
            <a:ext cx="7680960" cy="2103120"/>
          </a:xfrm>
          <a:prstGeom prst="roundRect">
            <a:avLst>
              <a:gd name="adj" fmla="val 695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44168" y="7260336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7214616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7671816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จัดเตรียมคำขอที่อนุมัติภายในแล้วเพื่อส่งสำนักงบประมาณ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8083296"/>
            <a:ext cx="61264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ตรวจรหัสและโครงสร้างข้อมูล · แบบฟอร์มที่กำหนด · ส่งออก Excel / PDF · บันทึกผลพิจารณาและคำขอแก้ไข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23160"/>
            <a:ext cx="821131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ตัวอย่าง: วงเงินแต่ละรอบการพิจารณา (ล้านบาท)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052560" y="3017520"/>
          <a:ext cx="8211312" cy="301752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1944624"/>
                <a:gridCol w="1944624"/>
                <a:gridCol w="1944624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รายการ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1A1B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คำขอเริ่มต้น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1A1B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กองแผนเสนอ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1A1B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ผู้บริหารเห็นชอบ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1A1B5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โครงการ A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20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18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1B9E29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15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โครงการ B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10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8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1B9E29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8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4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โครงการ C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15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12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1B9E29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10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รวม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E4F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45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E4F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212235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38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E4F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1B9E29"/>
                          </a:solidFill>
                          <a:latin typeface="Calibri"/>
                          <a:ea typeface="IBM Plex Sans Thai"/>
                          <a:cs typeface="IBM Plex Sans Thai"/>
                        </a:rPr>
                        <a:t>33</a:t>
                      </a:r>
                    </a:p>
                  </a:txBody>
                  <a:tcPr marL="182880" marR="182880" anchor="ctr">
                    <a:lnL w="9525">
                      <a:solidFill>
                        <a:srgbClr val="DDDEE9"/>
                      </a:solidFill>
                    </a:lnL>
                    <a:lnR w="9525">
                      <a:solidFill>
                        <a:srgbClr val="DDDEE9"/>
                      </a:solidFill>
                    </a:lnR>
                    <a:lnT w="9525">
                      <a:solidFill>
                        <a:srgbClr val="DDDEE9"/>
                      </a:solidFill>
                    </a:lnT>
                    <a:lnB w="9525">
                      <a:solidFill>
                        <a:srgbClr val="DDDEE9"/>
                      </a:solidFill>
                    </a:lnB>
                    <a:solidFill>
                      <a:srgbClr val="E4FBE7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9052560" y="6126479"/>
            <a:ext cx="82113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ตัวเลขสมมติเพื่อแสดงแนวคิด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6583679"/>
            <a:ext cx="8211312" cy="2551176"/>
          </a:xfrm>
          <a:prstGeom prst="roundRect">
            <a:avLst>
              <a:gd name="adj" fmla="val 573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6812279"/>
            <a:ext cx="7388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ทุกรอบการพิจารณาจัดเก็บเป็นเวอร์ชันใหม่</a:t>
            </a:r>
          </a:p>
        </p:txBody>
      </p:sp>
      <p:sp>
        <p:nvSpPr>
          <p:cNvPr id="26" name="Oval 25"/>
          <p:cNvSpPr/>
          <p:nvPr/>
        </p:nvSpPr>
        <p:spPr>
          <a:xfrm>
            <a:off x="9464040" y="7406640"/>
            <a:ext cx="566928" cy="566928"/>
          </a:xfrm>
          <a:prstGeom prst="ellipse">
            <a:avLst/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27" name="Picture 26" descr="history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772" y="7548371"/>
            <a:ext cx="283464" cy="2834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64040" y="8065008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วงเงินของรอบ</a:t>
            </a:r>
          </a:p>
        </p:txBody>
      </p:sp>
      <p:sp>
        <p:nvSpPr>
          <p:cNvPr id="29" name="Oval 28"/>
          <p:cNvSpPr/>
          <p:nvPr/>
        </p:nvSpPr>
        <p:spPr>
          <a:xfrm>
            <a:off x="11311128" y="7406640"/>
            <a:ext cx="566928" cy="566928"/>
          </a:xfrm>
          <a:prstGeom prst="ellipse">
            <a:avLst/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0" name="Picture 29" descr="comments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2859" y="7548371"/>
            <a:ext cx="283464" cy="2834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311128" y="8065008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เหตุผลการปรับ</a:t>
            </a:r>
          </a:p>
        </p:txBody>
      </p:sp>
      <p:sp>
        <p:nvSpPr>
          <p:cNvPr id="32" name="Oval 31"/>
          <p:cNvSpPr/>
          <p:nvPr/>
        </p:nvSpPr>
        <p:spPr>
          <a:xfrm>
            <a:off x="13158216" y="7406640"/>
            <a:ext cx="566928" cy="566928"/>
          </a:xfrm>
          <a:prstGeom prst="ellipse">
            <a:avLst/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3" name="Picture 32" descr="exec_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9948" y="7548371"/>
            <a:ext cx="283464" cy="2834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58216" y="8065008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ผู้ปรับและวันเวลา</a:t>
            </a:r>
          </a:p>
        </p:txBody>
      </p:sp>
      <p:sp>
        <p:nvSpPr>
          <p:cNvPr id="35" name="Oval 34"/>
          <p:cNvSpPr/>
          <p:nvPr/>
        </p:nvSpPr>
        <p:spPr>
          <a:xfrm>
            <a:off x="15005304" y="7406640"/>
            <a:ext cx="566928" cy="566928"/>
          </a:xfrm>
          <a:prstGeom prst="ellipse">
            <a:avLst/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6" name="Picture 35" descr="doc_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47036" y="7548371"/>
            <a:ext cx="283464" cy="2834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005304" y="8065008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เอกสารอ้างอิง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HIGH-LEVEL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กระบวนการงบประมาณตั้งแต่ต้นจนจบ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926080"/>
            <a:ext cx="2194560" cy="1133856"/>
          </a:xfrm>
          <a:prstGeom prst="roundRect">
            <a:avLst>
              <a:gd name="adj" fmla="val 806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กองแผนงาน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926080"/>
            <a:ext cx="13908024" cy="1133856"/>
          </a:xfrm>
          <a:prstGeom prst="roundRect">
            <a:avLst>
              <a:gd name="adj" fmla="val 8064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4114800"/>
            <a:ext cx="2194560" cy="1133856"/>
          </a:xfrm>
          <a:prstGeom prst="roundRect">
            <a:avLst>
              <a:gd name="adj" fmla="val 806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สำนัก / กอง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114800"/>
            <a:ext cx="13908024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9525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5303520"/>
            <a:ext cx="2194560" cy="1133856"/>
          </a:xfrm>
          <a:prstGeom prst="roundRect">
            <a:avLst>
              <a:gd name="adj" fmla="val 806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คณะกรรมการ / ผู้บริหาร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5303520"/>
            <a:ext cx="13908024" cy="1133856"/>
          </a:xfrm>
          <a:prstGeom prst="roundRect">
            <a:avLst>
              <a:gd name="adj" fmla="val 8064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" y="6492240"/>
            <a:ext cx="2194560" cy="1133856"/>
          </a:xfrm>
          <a:prstGeom prst="roundRect">
            <a:avLst>
              <a:gd name="adj" fmla="val 8064"/>
            </a:avLst>
          </a:prstGeom>
          <a:solidFill>
            <a:srgbClr val="7A7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สำนักงบประมาณ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6492240"/>
            <a:ext cx="13908024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9525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7680960"/>
            <a:ext cx="2194560" cy="1133856"/>
          </a:xfrm>
          <a:prstGeom prst="roundRect">
            <a:avLst>
              <a:gd name="adj" fmla="val 806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การเงินและบัญชี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7680960"/>
            <a:ext cx="13908024" cy="1133856"/>
          </a:xfrm>
          <a:prstGeom prst="roundRect">
            <a:avLst>
              <a:gd name="adj" fmla="val 8064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01568" y="2395728"/>
            <a:ext cx="2690164" cy="384048"/>
          </a:xfrm>
          <a:prstGeom prst="roundRect">
            <a:avLst>
              <a:gd name="adj" fmla="val 50000"/>
            </a:avLst>
          </a:prstGeom>
          <a:solidFill>
            <a:srgbClr val="E4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วางแผนและจัดทำคำขอ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3172" y="2395728"/>
            <a:ext cx="4080967" cy="384048"/>
          </a:xfrm>
          <a:prstGeom prst="roundRect">
            <a:avLst>
              <a:gd name="adj" fmla="val 50000"/>
            </a:avLst>
          </a:prstGeom>
          <a:solidFill>
            <a:srgbClr val="E4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พิจารณาภายใน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5580" y="2395728"/>
            <a:ext cx="2690164" cy="384048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ส่งและได้รับงบประมาณ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137184" y="2395728"/>
            <a:ext cx="4080967" cy="384048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1A1B50"/>
                </a:solidFill>
                <a:latin typeface="Calibri"/>
                <a:ea typeface="IBM Plex Sans Thai"/>
                <a:cs typeface="IBM Plex Sans Thai"/>
              </a:rPr>
              <a:t>จัดสรรและติดตามผล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02666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309981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332841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กำหนดแผนและกรอบงบประมาณ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7234" y="421538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0386" y="428853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0386" y="451713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จัดทำคำของบประมาณ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036" y="302666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1188" y="309981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188" y="332841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กลั่นกรองคำขอ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8839" y="302666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1991" y="309981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1991" y="332841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รวบรวมระดับกรม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9641" y="540410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2793" y="547725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2793" y="570585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พิจารณาและอนุมัติ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10443" y="302666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83595" y="309981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83595" y="332841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จัดทำชุดข้อมูลส่ง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01246" y="659282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7A7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74398" y="666597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ภายนอก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74398" y="689457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พิจารณาและแจ้งวงเงิน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192048" y="778154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65200" y="785469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65200" y="808329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บันทึกวงเงินและจัดสรร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582851" y="421538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656003" y="428853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56003" y="451713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ดำเนินงานและเบิกจ่าย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973653" y="3026664"/>
            <a:ext cx="1189634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5875">
            <a:solidFill>
              <a:srgbClr val="1B9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046805" y="3099816"/>
            <a:ext cx="104333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46805" y="3328416"/>
            <a:ext cx="104333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ประเมินผลสัมฤทธิ์</a:t>
            </a:r>
          </a:p>
        </p:txBody>
      </p:sp>
      <p:sp>
        <p:nvSpPr>
          <p:cNvPr id="50" name="Freeform 49"/>
          <p:cNvSpPr/>
          <p:nvPr/>
        </p:nvSpPr>
        <p:spPr>
          <a:xfrm>
            <a:off x="4664354" y="3493008"/>
            <a:ext cx="164592" cy="1188720"/>
          </a:xfrm>
          <a:custGeom>
            <a:avLst/>
            <a:gdLst/>
            <a:ahLst/>
            <a:cxnLst/>
            <a:rect l="l" t="t" r="r" b="b"/>
            <a:pathLst>
              <a:path w="164592" h="1188720">
                <a:moveTo>
                  <a:pt x="0" y="0"/>
                </a:moveTo>
                <a:lnTo>
                  <a:pt x="82296" y="0"/>
                </a:lnTo>
                <a:lnTo>
                  <a:pt x="82296" y="1188720"/>
                </a:lnTo>
                <a:lnTo>
                  <a:pt x="164592" y="1188720"/>
                </a:lnTo>
              </a:path>
            </a:pathLst>
          </a:custGeom>
          <a:noFill/>
          <a:ln w="19050">
            <a:solidFill>
              <a:srgbClr val="1A1B5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6055156" y="3493008"/>
            <a:ext cx="164592" cy="1188720"/>
          </a:xfrm>
          <a:custGeom>
            <a:avLst/>
            <a:gdLst/>
            <a:ahLst/>
            <a:cxnLst/>
            <a:rect l="l" t="t" r="r" b="b"/>
            <a:pathLst>
              <a:path w="164592" h="1188720">
                <a:moveTo>
                  <a:pt x="0" y="1188720"/>
                </a:moveTo>
                <a:lnTo>
                  <a:pt x="82296" y="1188720"/>
                </a:lnTo>
                <a:lnTo>
                  <a:pt x="82296" y="0"/>
                </a:lnTo>
                <a:lnTo>
                  <a:pt x="164592" y="0"/>
                </a:lnTo>
              </a:path>
            </a:pathLst>
          </a:custGeom>
          <a:noFill/>
          <a:ln w="19050">
            <a:solidFill>
              <a:srgbClr val="1A1B5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445959" y="3493008"/>
            <a:ext cx="164592" cy="0"/>
          </a:xfrm>
          <a:prstGeom prst="line">
            <a:avLst/>
          </a:prstGeom>
          <a:ln w="19050">
            <a:solidFill>
              <a:srgbClr val="1A1B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836761" y="3493008"/>
            <a:ext cx="164592" cy="2377440"/>
          </a:xfrm>
          <a:custGeom>
            <a:avLst/>
            <a:gdLst/>
            <a:ahLst/>
            <a:cxnLst/>
            <a:rect l="l" t="t" r="r" b="b"/>
            <a:pathLst>
              <a:path w="164592" h="2377440">
                <a:moveTo>
                  <a:pt x="0" y="0"/>
                </a:moveTo>
                <a:lnTo>
                  <a:pt x="82296" y="0"/>
                </a:lnTo>
                <a:lnTo>
                  <a:pt x="82296" y="2377440"/>
                </a:lnTo>
                <a:lnTo>
                  <a:pt x="164592" y="2377440"/>
                </a:lnTo>
              </a:path>
            </a:pathLst>
          </a:custGeom>
          <a:noFill/>
          <a:ln w="19050">
            <a:solidFill>
              <a:srgbClr val="1A1B5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0227563" y="3493008"/>
            <a:ext cx="164592" cy="2377440"/>
          </a:xfrm>
          <a:custGeom>
            <a:avLst/>
            <a:gdLst/>
            <a:ahLst/>
            <a:cxnLst/>
            <a:rect l="l" t="t" r="r" b="b"/>
            <a:pathLst>
              <a:path w="164592" h="2377440">
                <a:moveTo>
                  <a:pt x="0" y="2377440"/>
                </a:moveTo>
                <a:lnTo>
                  <a:pt x="82296" y="2377440"/>
                </a:lnTo>
                <a:lnTo>
                  <a:pt x="82296" y="0"/>
                </a:lnTo>
                <a:lnTo>
                  <a:pt x="164592" y="0"/>
                </a:lnTo>
              </a:path>
            </a:pathLst>
          </a:custGeom>
          <a:noFill/>
          <a:ln w="19050">
            <a:solidFill>
              <a:srgbClr val="1A1B5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1618366" y="3493008"/>
            <a:ext cx="164592" cy="3566160"/>
          </a:xfrm>
          <a:custGeom>
            <a:avLst/>
            <a:gdLst/>
            <a:ahLst/>
            <a:cxnLst/>
            <a:rect l="l" t="t" r="r" b="b"/>
            <a:pathLst>
              <a:path w="164592" h="3566160">
                <a:moveTo>
                  <a:pt x="0" y="0"/>
                </a:moveTo>
                <a:lnTo>
                  <a:pt x="82296" y="0"/>
                </a:lnTo>
                <a:lnTo>
                  <a:pt x="82296" y="3566160"/>
                </a:lnTo>
                <a:lnTo>
                  <a:pt x="164592" y="3566160"/>
                </a:lnTo>
              </a:path>
            </a:pathLst>
          </a:custGeom>
          <a:noFill/>
          <a:ln w="19050">
            <a:solidFill>
              <a:srgbClr val="1A1B5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3009168" y="7059168"/>
            <a:ext cx="164592" cy="1188720"/>
          </a:xfrm>
          <a:custGeom>
            <a:avLst/>
            <a:gdLst/>
            <a:ahLst/>
            <a:cxnLst/>
            <a:rect l="l" t="t" r="r" b="b"/>
            <a:pathLst>
              <a:path w="164592" h="1188720">
                <a:moveTo>
                  <a:pt x="0" y="0"/>
                </a:moveTo>
                <a:lnTo>
                  <a:pt x="82296" y="0"/>
                </a:lnTo>
                <a:lnTo>
                  <a:pt x="82296" y="1188720"/>
                </a:lnTo>
                <a:lnTo>
                  <a:pt x="164592" y="1188720"/>
                </a:lnTo>
              </a:path>
            </a:pathLst>
          </a:custGeom>
          <a:noFill/>
          <a:ln w="19050">
            <a:solidFill>
              <a:srgbClr val="1A1B5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4399971" y="4681728"/>
            <a:ext cx="164592" cy="3566160"/>
          </a:xfrm>
          <a:custGeom>
            <a:avLst/>
            <a:gdLst/>
            <a:ahLst/>
            <a:cxnLst/>
            <a:rect l="l" t="t" r="r" b="b"/>
            <a:pathLst>
              <a:path w="164592" h="3566160">
                <a:moveTo>
                  <a:pt x="0" y="3566160"/>
                </a:moveTo>
                <a:lnTo>
                  <a:pt x="82296" y="3566160"/>
                </a:lnTo>
                <a:lnTo>
                  <a:pt x="82296" y="0"/>
                </a:lnTo>
                <a:lnTo>
                  <a:pt x="164592" y="0"/>
                </a:lnTo>
              </a:path>
            </a:pathLst>
          </a:custGeom>
          <a:noFill/>
          <a:ln w="19050">
            <a:solidFill>
              <a:srgbClr val="1A1B5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5790773" y="3493008"/>
            <a:ext cx="164592" cy="1188720"/>
          </a:xfrm>
          <a:custGeom>
            <a:avLst/>
            <a:gdLst/>
            <a:ahLst/>
            <a:cxnLst/>
            <a:rect l="l" t="t" r="r" b="b"/>
            <a:pathLst>
              <a:path w="164592" h="1188720">
                <a:moveTo>
                  <a:pt x="0" y="1188720"/>
                </a:moveTo>
                <a:lnTo>
                  <a:pt x="82296" y="1188720"/>
                </a:lnTo>
                <a:lnTo>
                  <a:pt x="82296" y="0"/>
                </a:lnTo>
                <a:lnTo>
                  <a:pt x="164592" y="0"/>
                </a:lnTo>
              </a:path>
            </a:pathLst>
          </a:custGeom>
          <a:noFill/>
          <a:ln w="19050">
            <a:solidFill>
              <a:srgbClr val="1A1B50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5442051" y="3977639"/>
            <a:ext cx="1390803" cy="1261873"/>
          </a:xfrm>
          <a:custGeom>
            <a:avLst/>
            <a:gdLst/>
            <a:ahLst/>
            <a:cxnLst/>
            <a:rect l="l" t="t" r="r" b="b"/>
            <a:pathLst>
              <a:path w="1390803" h="1261873">
                <a:moveTo>
                  <a:pt x="1390803" y="0"/>
                </a:moveTo>
                <a:lnTo>
                  <a:pt x="1390803" y="1261873"/>
                </a:lnTo>
                <a:lnTo>
                  <a:pt x="0" y="1261873"/>
                </a:lnTo>
                <a:lnTo>
                  <a:pt x="0" y="1188721"/>
                </a:lnTo>
              </a:path>
            </a:pathLst>
          </a:custGeom>
          <a:noFill/>
          <a:ln w="19050">
            <a:solidFill>
              <a:srgbClr val="E2603F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06006" y="45445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E2603F"/>
                </a:solidFill>
                <a:latin typeface="Calibri"/>
                <a:ea typeface="IBM Plex Sans Thai"/>
                <a:cs typeface="IBM Plex Sans Thai"/>
              </a:rPr>
              <a:t>ส่งกลับแก้ไข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55848" y="8942832"/>
            <a:ext cx="139080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ลำดับขั้นและผู้รับผิดชอบปรับได้ตามโครงสร้างองค์กรของแต่ละหน่วยงาน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MULTI-LEVEL BUDGET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Workflow หลายระดับ ปรับตามโครงสร้างองค์กร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97180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0998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312724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สำนัก / กอง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50215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จัดทำคำของบประมาณ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1976" y="356616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92016" y="297180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4896" y="30998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6376" y="312724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4896" y="350215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ตรวจสอบความครบถ้วน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39865" y="356616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59905" y="297180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2785" y="30998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4265" y="312724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สำนัก / กอง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2785" y="350215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ส่งคำขอให้กองแผนงาน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7754" y="356616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7794" y="297180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10674" y="30998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2154" y="312724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กองแผนงาน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0674" y="350215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พิจารณาและกลั่นกรอง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775643" y="356616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095683" y="297180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78563" y="30998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90043" y="312724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กองแผนงาน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78563" y="350215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รวบรวมคำขอระดับกรม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543531" y="356616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4863572" y="297180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46451" y="30998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457931" y="312724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คณะกรรมการ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46451" y="350215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พิจารณางบประมาณ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" y="507492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7008" y="5202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8488" y="523036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ผู้บริหาร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008" y="560527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อนุมัติคำของบประมาณ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471976" y="566928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792016" y="507492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74896" y="5202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6376" y="523036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กองแผนงาน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4896" y="560527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จัดทำคำขอระดับหน่วยรับงบฯ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39865" y="566928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559905" y="507492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2785" y="5202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4265" y="523036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กองแผนงาน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2785" y="560527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เตรียมข้อมูลส่งสำนักงบประมาณ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07754" y="566928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327794" y="507492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10674" y="5202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2154" y="523036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กองแผนงาน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10674" y="560527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ติดตามผลการพิจารณา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775643" y="566928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2095683" y="507492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278563" y="5202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90043" y="523036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การเงิน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278563" y="560527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บันทึกวงเงินที่ได้รับ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4543531" y="5669280"/>
            <a:ext cx="274320" cy="0"/>
          </a:xfrm>
          <a:prstGeom prst="line">
            <a:avLst/>
          </a:prstGeom>
          <a:ln w="22225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4863572" y="5074920"/>
            <a:ext cx="2402128" cy="1188720"/>
          </a:xfrm>
          <a:prstGeom prst="roundRect">
            <a:avLst>
              <a:gd name="adj" fmla="val 10769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046451" y="5202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457931" y="5230368"/>
            <a:ext cx="16706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การเงิน / สำนัก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46451" y="5605272"/>
            <a:ext cx="208208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จัดสรรและติดตามการดำเนินงาน</a:t>
            </a:r>
          </a:p>
        </p:txBody>
      </p:sp>
      <p:sp>
        <p:nvSpPr>
          <p:cNvPr id="64" name="Freeform 63"/>
          <p:cNvSpPr/>
          <p:nvPr/>
        </p:nvSpPr>
        <p:spPr>
          <a:xfrm>
            <a:off x="2225192" y="4160520"/>
            <a:ext cx="13839444" cy="877824"/>
          </a:xfrm>
          <a:custGeom>
            <a:avLst/>
            <a:gdLst/>
            <a:ahLst/>
            <a:cxnLst/>
            <a:rect l="l" t="t" r="r" b="b"/>
            <a:pathLst>
              <a:path w="13839444" h="877824">
                <a:moveTo>
                  <a:pt x="13839444" y="0"/>
                </a:moveTo>
                <a:lnTo>
                  <a:pt x="13839444" y="457200"/>
                </a:lnTo>
                <a:lnTo>
                  <a:pt x="0" y="457200"/>
                </a:lnTo>
                <a:lnTo>
                  <a:pt x="0" y="877824"/>
                </a:lnTo>
              </a:path>
            </a:pathLst>
          </a:custGeom>
          <a:noFill/>
          <a:ln w="22225">
            <a:solidFill>
              <a:srgbClr val="1B9E29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225192" y="2679192"/>
            <a:ext cx="8303666" cy="292608"/>
          </a:xfrm>
          <a:custGeom>
            <a:avLst/>
            <a:gdLst/>
            <a:ahLst/>
            <a:cxnLst/>
            <a:rect l="l" t="t" r="r" b="b"/>
            <a:pathLst>
              <a:path w="8303666" h="292608">
                <a:moveTo>
                  <a:pt x="8303666" y="292608"/>
                </a:moveTo>
                <a:lnTo>
                  <a:pt x="8303666" y="0"/>
                </a:lnTo>
                <a:lnTo>
                  <a:pt x="0" y="0"/>
                </a:lnTo>
                <a:lnTo>
                  <a:pt x="0" y="256032"/>
                </a:lnTo>
              </a:path>
            </a:pathLst>
          </a:custGeom>
          <a:noFill/>
          <a:ln w="22225">
            <a:solidFill>
              <a:srgbClr val="E2603F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913985" y="2514600"/>
            <a:ext cx="292608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E2603F"/>
                </a:solidFill>
                <a:latin typeface="Calibri"/>
                <a:ea typeface="IBM Plex Sans Thai"/>
                <a:cs typeface="IBM Plex Sans Thai"/>
              </a:rPr>
              <a:t>ส่งกลับแก้ไข · Return for Revision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24128" y="6675120"/>
            <a:ext cx="16239744" cy="2377440"/>
          </a:xfrm>
          <a:prstGeom prst="roundRect">
            <a:avLst>
              <a:gd name="adj" fmla="val 6153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81328" y="69494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Workflow Capabilities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69494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ขับเคลื่อนด้วย Workflow Engine — กำหนดสายอนุมัติได้ตามหน่วยงาน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481328" y="7589520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Multi-Level Approval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82972" y="7589520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Delegation of Authority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84617" y="7589520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Return for Revision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786262" y="7589520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Budget Adjustment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887907" y="7589520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Version Control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481328" y="8247888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Approval History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82972" y="8247888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Deadline Management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84617" y="8247888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Notifications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786262" y="8247888"/>
            <a:ext cx="2918764" cy="530352"/>
          </a:xfrm>
          <a:prstGeom prst="roundRect">
            <a:avLst>
              <a:gd name="adj" fmla="val 17241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Audit Trail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M06 · M07 · M08 — ALLOCATE, MONITOR,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ติดตามทุกบาทจนถึงผลสัมฤทธิ์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423160"/>
            <a:ext cx="4572000" cy="6629400"/>
          </a:xfrm>
          <a:prstGeom prst="roundRect">
            <a:avLst>
              <a:gd name="adj" fmla="val 3200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4168" y="2743200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8568" y="274320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749039"/>
            <a:ext cx="3931920" cy="457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9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บันทึกวงเงินงบประมาณที่ได้รับอนุมัติ</a:t>
            </a:r>
          </a:p>
          <a:p>
            <a:pPr algn="l" marL="201168" indent="-201168">
              <a:lnSpc>
                <a:spcPct val="100000"/>
              </a:lnSpc>
              <a:spcAft>
                <a:spcPts val="9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จัดสรรตามหน่วยงาน</a:t>
            </a:r>
          </a:p>
          <a:p>
            <a:pPr algn="l" marL="201168" indent="-201168">
              <a:lnSpc>
                <a:spcPct val="100000"/>
              </a:lnSpc>
              <a:spcAft>
                <a:spcPts val="9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จัดสรรตามโครงการและกิจกรรม</a:t>
            </a:r>
          </a:p>
          <a:p>
            <a:pPr algn="l" marL="201168" indent="-201168">
              <a:lnSpc>
                <a:spcPct val="100000"/>
              </a:lnSpc>
              <a:spcAft>
                <a:spcPts val="9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จัดทำแผนการใช้จ่าย</a:t>
            </a:r>
          </a:p>
          <a:p>
            <a:pPr algn="l" marL="201168" indent="-201168">
              <a:lnSpc>
                <a:spcPct val="100000"/>
              </a:lnSpc>
              <a:spcAft>
                <a:spcPts val="9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ปรับแผนและโอนเปลี่ยนแปลง</a:t>
            </a:r>
          </a:p>
          <a:p>
            <a:pPr algn="l" marL="201168" indent="-201168">
              <a:lnSpc>
                <a:spcPct val="100000"/>
              </a:lnSpc>
              <a:spcAft>
                <a:spcPts val="9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ตรวจสอบวงเงินคงเหลือ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64008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ลำดับการจัดสรร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4168" y="6812279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วงเงินที่ได้รับอนุมัติ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7223759"/>
            <a:ext cx="0" cy="12801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344168" y="7360919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จัดสรรรายหน่วยงาน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0128" y="7772399"/>
            <a:ext cx="0" cy="12801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44168" y="7909559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จัดสรรรายโครงการ / กิจกรรม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8321039"/>
            <a:ext cx="0" cy="128016"/>
          </a:xfrm>
          <a:prstGeom prst="line">
            <a:avLst/>
          </a:prstGeom>
          <a:ln w="1587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44168" y="8458200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แผนการใช้จ่ายรายเดือน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70448" y="2423160"/>
            <a:ext cx="6583680" cy="6629400"/>
          </a:xfrm>
          <a:prstGeom prst="roundRect">
            <a:avLst>
              <a:gd name="adj" fmla="val 2222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90488" y="2743200"/>
            <a:ext cx="731520" cy="731520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1A1B50"/>
                </a:solidFill>
                <a:latin typeface="Poppins"/>
                <a:ea typeface="IBM Plex Sans Thai"/>
                <a:cs typeface="IBM Plex Sans Thai"/>
              </a:rPr>
              <a:t>M07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27432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Execution &amp;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3749039"/>
            <a:ext cx="2857500" cy="1371600"/>
          </a:xfrm>
          <a:prstGeom prst="roundRect">
            <a:avLst>
              <a:gd name="adj" fmla="val 8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886200"/>
            <a:ext cx="240030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0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1,000</a:t>
            </a: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  ล้านบาท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617720"/>
            <a:ext cx="24003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งบประมาณที่ได้รับ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76588" y="3749039"/>
            <a:ext cx="2857500" cy="1371600"/>
          </a:xfrm>
          <a:prstGeom prst="roundRect">
            <a:avLst>
              <a:gd name="adj" fmla="val 8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0908" y="3886200"/>
            <a:ext cx="240030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0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600</a:t>
            </a: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  ล้านบาท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0908" y="4617720"/>
            <a:ext cx="24003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แผนการใช้จ่ายสะสม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5303520"/>
            <a:ext cx="2857500" cy="1371600"/>
          </a:xfrm>
          <a:prstGeom prst="roundRect">
            <a:avLst>
              <a:gd name="adj" fmla="val 8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5440680"/>
            <a:ext cx="240030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0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520</a:t>
            </a: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  ล้านบาท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6172200"/>
            <a:ext cx="24003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ผลการเบิกจ่ายสะสม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76588" y="5303520"/>
            <a:ext cx="2857500" cy="1371600"/>
          </a:xfrm>
          <a:prstGeom prst="roundRect">
            <a:avLst>
              <a:gd name="adj" fmla="val 8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0908" y="5440680"/>
            <a:ext cx="240030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0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52%</a:t>
            </a: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0908" y="6172200"/>
            <a:ext cx="24003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อัตราการเบิกจ่าย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6858000"/>
            <a:ext cx="2857500" cy="1371600"/>
          </a:xfrm>
          <a:prstGeom prst="roundRect">
            <a:avLst>
              <a:gd name="adj" fmla="val 8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6995160"/>
            <a:ext cx="240030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0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86.7%</a:t>
            </a: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7726679"/>
            <a:ext cx="24003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ความก้าวหน้าตามแผน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6588" y="6858000"/>
            <a:ext cx="2857500" cy="1371600"/>
          </a:xfrm>
          <a:prstGeom prst="roundRect">
            <a:avLst>
              <a:gd name="adj" fmla="val 8000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0908" y="6995160"/>
            <a:ext cx="240030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0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480</a:t>
            </a: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  ล้านบาท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0908" y="7726679"/>
            <a:ext cx="24003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งบประมาณคงเหลือ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841248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Drill-down ตามหน่วยงาน · โครงการ · หมวดรายจ่าย · ช่วงเวลา  —  ข้อมูลสมมติ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728448" y="2423160"/>
            <a:ext cx="4535424" cy="6629400"/>
          </a:xfrm>
          <a:prstGeom prst="roundRect">
            <a:avLst>
              <a:gd name="adj" fmla="val 322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048488" y="2743200"/>
            <a:ext cx="731520" cy="73152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M08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62888" y="274320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Performance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048488" y="3749039"/>
            <a:ext cx="3895344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231368" y="3803903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31368" y="4114800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งบประมาณ 20 ล้านบาท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96159" y="4498848"/>
            <a:ext cx="0" cy="237744"/>
          </a:xfrm>
          <a:prstGeom prst="line">
            <a:avLst/>
          </a:prstGeom>
          <a:ln w="19050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3048488" y="4754879"/>
            <a:ext cx="3895344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231368" y="4809743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Activities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31368" y="5120640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พัฒนาระบบบริการประชาชน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4996159" y="5504688"/>
            <a:ext cx="0" cy="237743"/>
          </a:xfrm>
          <a:prstGeom prst="line">
            <a:avLst/>
          </a:prstGeom>
          <a:ln w="19050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3048488" y="5760720"/>
            <a:ext cx="3895344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31368" y="5815583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Outputs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31368" y="6126480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ระบบบริการออนไลน์ 5 ระบบ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4996159" y="6510528"/>
            <a:ext cx="0" cy="237744"/>
          </a:xfrm>
          <a:prstGeom prst="line">
            <a:avLst/>
          </a:prstGeom>
          <a:ln w="19050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3048488" y="6766560"/>
            <a:ext cx="3895344" cy="731520"/>
          </a:xfrm>
          <a:prstGeom prst="roundRect">
            <a:avLst>
              <a:gd name="adj" fmla="val 12500"/>
            </a:avLst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231368" y="6821424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Outcomes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31368" y="7132320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E4FBE7"/>
                </a:solidFill>
                <a:latin typeface="Calibri"/>
                <a:ea typeface="IBM Plex Sans Thai"/>
                <a:cs typeface="IBM Plex Sans Thai"/>
              </a:rPr>
              <a:t>ลดเวลารับบริการ 40%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4996159" y="7516368"/>
            <a:ext cx="0" cy="237744"/>
          </a:xfrm>
          <a:prstGeom prst="line">
            <a:avLst/>
          </a:prstGeom>
          <a:ln w="19050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3048488" y="7772400"/>
            <a:ext cx="3895344" cy="731520"/>
          </a:xfrm>
          <a:prstGeom prst="roundRect">
            <a:avLst>
              <a:gd name="adj" fmla="val 12500"/>
            </a:avLst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231368" y="7827264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Impact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31368" y="8138160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E4FBE7"/>
                </a:solidFill>
                <a:latin typeface="Calibri"/>
                <a:ea typeface="IBM Plex Sans Thai"/>
                <a:cs typeface="IBM Plex Sans Thai"/>
              </a:rPr>
              <a:t>คุณภาพบริการภาครัฐ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8A8BA8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M09 — BUDGET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AI ช่วยจัดทำ ตรวจสอบ และวิเคราะห์งบประมาณ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12848"/>
            <a:ext cx="14264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AI Agent Platform ทำงานบนข้อมูลที่ผู้ใช้มีสิทธิ์เข้าถึง ทุกคำตอบแสดงสมมติฐาน เหตุผล และแหล่งข้อมูลอ้างอิง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3108960"/>
            <a:ext cx="3310128" cy="2697480"/>
          </a:xfrm>
          <a:prstGeom prst="roundRect">
            <a:avLst>
              <a:gd name="adj" fmla="val 542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4168" y="3429000"/>
            <a:ext cx="685800" cy="68580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9" name="Picture 8" descr="w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618" y="3600450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44168" y="4297680"/>
            <a:ext cx="2761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Budget Preparation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4983479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ช่วยร่างคำของบประมาณและเหตุผลความจำเป็น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6" y="3108960"/>
            <a:ext cx="3310128" cy="2697480"/>
          </a:xfrm>
          <a:prstGeom prst="roundRect">
            <a:avLst>
              <a:gd name="adj" fmla="val 542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82896" y="3429000"/>
            <a:ext cx="685800" cy="68580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4" name="Picture 13" descr="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346" y="360045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82896" y="4297680"/>
            <a:ext cx="2761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Budget Validation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4983479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ตรวจข้อมูลที่ไม่ครบและความผิดปกติก่อนส่ง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3108960"/>
            <a:ext cx="3310128" cy="2697480"/>
          </a:xfrm>
          <a:prstGeom prst="roundRect">
            <a:avLst>
              <a:gd name="adj" fmla="val 542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21624" y="3429000"/>
            <a:ext cx="685800" cy="68580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9" name="Picture 18" descr="cha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074" y="3600450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21624" y="4297680"/>
            <a:ext cx="2761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Budget Analysis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4983479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วิเคราะห์แนวโน้ม เปรียบเทียบงบประมาณย้อนหลัง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6035040"/>
            <a:ext cx="3310128" cy="2697480"/>
          </a:xfrm>
          <a:prstGeom prst="roundRect">
            <a:avLst>
              <a:gd name="adj" fmla="val 542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44168" y="6355079"/>
            <a:ext cx="685800" cy="68580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24" name="Picture 23" descr="balanc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5618" y="6526529"/>
            <a:ext cx="342900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44168" y="7223759"/>
            <a:ext cx="2761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Budget Optimization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7909559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เสนอทางเลือกจัดสรรภายใต้ข้อจำกัดวงเงิน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62856" y="6035040"/>
            <a:ext cx="3310128" cy="2697480"/>
          </a:xfrm>
          <a:prstGeom prst="roundRect">
            <a:avLst>
              <a:gd name="adj" fmla="val 542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82896" y="6355079"/>
            <a:ext cx="685800" cy="68580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29" name="Picture 28" descr="bel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4346" y="6526529"/>
            <a:ext cx="342900" cy="342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82896" y="7223759"/>
            <a:ext cx="2761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Budget Monitoring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6" y="7909559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แจ้งเตือนโครงการเสี่ยงเบิกจ่ายล่าช้า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6035040"/>
            <a:ext cx="3310128" cy="2697480"/>
          </a:xfrm>
          <a:prstGeom prst="roundRect">
            <a:avLst>
              <a:gd name="adj" fmla="val 542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21624" y="6355079"/>
            <a:ext cx="685800" cy="68580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4" name="Picture 33" descr="comment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3074" y="6526529"/>
            <a:ext cx="342900" cy="342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21624" y="7223759"/>
            <a:ext cx="2761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Executive Budget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7909559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ตอบคำถามผู้บริหารจากข้อมูลที่ได้รับอนุญาต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40312" y="3108960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ตัวอย่างคำถามจากผู้บริหาร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640312" y="3611880"/>
            <a:ext cx="5623560" cy="1143000"/>
          </a:xfrm>
          <a:prstGeom prst="roundRect">
            <a:avLst>
              <a:gd name="adj" fmla="val 11200"/>
            </a:avLst>
          </a:prstGeom>
          <a:solidFill>
            <a:srgbClr val="12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9" name="Picture 38" descr="quote_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3886200"/>
            <a:ext cx="329184" cy="3291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417552" y="3611880"/>
            <a:ext cx="4572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4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“โครงการใดของกรมมีอัตราเบิกจ่ายต่ำกว่าแผนมากที่สุด?”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640312" y="4937760"/>
            <a:ext cx="5623560" cy="1143000"/>
          </a:xfrm>
          <a:prstGeom prst="roundRect">
            <a:avLst>
              <a:gd name="adj" fmla="val 11200"/>
            </a:avLst>
          </a:prstGeom>
          <a:solidFill>
            <a:srgbClr val="12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42" name="Picture 41" descr="quote_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212080"/>
            <a:ext cx="329184" cy="32918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417552" y="4937760"/>
            <a:ext cx="4572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4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“หากได้รับงบประมาณลดลง 15% ควรจัดสรรอย่างไรเพื่อรักษาโครงการสำคัญ?”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640312" y="6355079"/>
            <a:ext cx="5623560" cy="2377440"/>
          </a:xfrm>
          <a:prstGeom prst="roundRect">
            <a:avLst>
              <a:gd name="adj" fmla="val 6153"/>
            </a:avLst>
          </a:prstGeom>
          <a:solidFill>
            <a:srgbClr val="1A1B50"/>
          </a:solidFill>
          <a:ln w="1905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960352" y="6675119"/>
            <a:ext cx="548640" cy="548640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46" name="Picture 45" descr="shield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97512" y="6812279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2691872" y="6675119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หลักการควบคุม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60352" y="7360919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AI ทำหน้าที่สนับสนุนการตัดสินใจเท่านั้น การอนุมัติและปรับเปลี่ยนวงเงินดำเนินการโดยผู้มีอำนาจตามระเบียบราชการ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8A8BA8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AI ทำงานบนข้อมูลที่ได้รับอนุญาต และให้มนุษย์ตัดสินใจ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12848"/>
            <a:ext cx="14264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Agent อ่านข้อมูลและเอกสารตามสิทธิ์ของผู้ใช้ แล้วส่งผลกลับเป็นข้อเสนอพร้อมแหล่งอ้างอิง ไม่บันทึกหรืออนุมัติแทนผู้ใช้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3017520"/>
            <a:ext cx="3108960" cy="859536"/>
          </a:xfrm>
          <a:prstGeom prst="roundRect">
            <a:avLst>
              <a:gd name="adj" fmla="val 14893"/>
            </a:avLst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3081527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Entry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47472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E4FBE7"/>
                </a:solidFill>
                <a:latin typeface="Calibri"/>
                <a:ea typeface="IBM Plex Sans Thai"/>
                <a:cs typeface="IBM Plex Sans Thai"/>
              </a:rPr>
              <a:t>จุดที่ผู้ใช้เรียกใช้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108960"/>
            <a:ext cx="2231136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Executive Assistant (Chat)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3108960"/>
            <a:ext cx="2231136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ผู้ช่วยในหน้าจัดทำคำขอ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3416" y="3108960"/>
            <a:ext cx="2231136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ตรวจสอบก่อนส่งคำขอ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93424" y="3108960"/>
            <a:ext cx="2231136" cy="676656"/>
          </a:xfrm>
          <a:prstGeom prst="roundRect">
            <a:avLst>
              <a:gd name="adj" fmla="val 13513"/>
            </a:avLst>
          </a:prstGeom>
          <a:solidFill>
            <a:srgbClr val="232366"/>
          </a:solidFill>
          <a:ln w="1270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แจ้งเตือนเชิงรุก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995927"/>
            <a:ext cx="3108960" cy="859536"/>
          </a:xfrm>
          <a:prstGeom prst="roundRect">
            <a:avLst>
              <a:gd name="adj" fmla="val 1489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4059935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Agent 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453127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วางแผนงานและเรียกใช้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087367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Intent Router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406" y="4087367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Task Planner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3412" y="4087367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Tool Calling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83419" y="4087367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Session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63425" y="4087367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Answer + Citations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974336"/>
            <a:ext cx="3108960" cy="859536"/>
          </a:xfrm>
          <a:prstGeom prst="roundRect">
            <a:avLst>
              <a:gd name="adj" fmla="val 1489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503834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Budget AI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431536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6 Agents ตามงานงบประมาณ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065775"/>
            <a:ext cx="144780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Preparation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10072" y="5065775"/>
            <a:ext cx="144780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6743" y="5065775"/>
            <a:ext cx="144780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416" y="5065775"/>
            <a:ext cx="144780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Optimization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10088" y="5065775"/>
            <a:ext cx="144780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76760" y="5065775"/>
            <a:ext cx="1447800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Executive Assistant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" y="5952744"/>
            <a:ext cx="3108960" cy="859536"/>
          </a:xfrm>
          <a:prstGeom prst="roundRect">
            <a:avLst>
              <a:gd name="adj" fmla="val 1489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8448" y="6016752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640994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สิ่งที่ Agent เรียกใช้ได้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6044183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Budget Query (read-only)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3406" y="6044183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Document Retrieval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3412" y="6044183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Rule Check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83419" y="6044183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What-if Simulation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63425" y="6044183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Draft Proposal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" y="6931152"/>
            <a:ext cx="3108960" cy="859536"/>
          </a:xfrm>
          <a:prstGeom prst="roundRect">
            <a:avLst>
              <a:gd name="adj" fmla="val 1489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98448" y="699516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Knowledge &amp;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7388352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แหล่งข้อมูลอ้างอิง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7022592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Budget Database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3406" y="7022592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Historical Budget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3412" y="7022592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ระเบียบและหลักเกณฑ์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83419" y="7022592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Vector Store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863425" y="7022592"/>
            <a:ext cx="1761134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Analytics Data Mart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4128" y="7909560"/>
            <a:ext cx="3108960" cy="859536"/>
          </a:xfrm>
          <a:prstGeom prst="roundRect">
            <a:avLst>
              <a:gd name="adj" fmla="val 14893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98448" y="7973568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LLM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8448" y="836676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เลือกโมเดลตามนโยบายหน่วยงาน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8001000"/>
            <a:ext cx="223113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LLM Gateway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93408" y="8001000"/>
            <a:ext cx="223113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Government / Private Cloud LLM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43416" y="8001000"/>
            <a:ext cx="223113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On-Premise Open Model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393424" y="8001000"/>
            <a:ext cx="2231136" cy="676656"/>
          </a:xfrm>
          <a:prstGeom prst="roundRect">
            <a:avLst>
              <a:gd name="adj" fmla="val 13513"/>
            </a:avLst>
          </a:prstGeom>
          <a:solidFill>
            <a:srgbClr val="1A1B50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Embedding Model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880592" y="3017520"/>
            <a:ext cx="3383280" cy="5751576"/>
          </a:xfrm>
          <a:prstGeom prst="roundRect">
            <a:avLst>
              <a:gd name="adj" fmla="val 4324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246352" y="3291839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AI Governance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46352" y="37490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ควบคุมทุกชั้นของ AI</a:t>
            </a:r>
          </a:p>
        </p:txBody>
      </p:sp>
      <p:sp>
        <p:nvSpPr>
          <p:cNvPr id="57" name="Oval 56"/>
          <p:cNvSpPr/>
          <p:nvPr/>
        </p:nvSpPr>
        <p:spPr>
          <a:xfrm>
            <a:off x="14246352" y="4379976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520672" y="420624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เข้าถึงข้อมูลตามสิทธิ์ผู้ใช้</a:t>
            </a:r>
          </a:p>
        </p:txBody>
      </p:sp>
      <p:sp>
        <p:nvSpPr>
          <p:cNvPr id="59" name="Oval 58"/>
          <p:cNvSpPr/>
          <p:nvPr/>
        </p:nvSpPr>
        <p:spPr>
          <a:xfrm>
            <a:off x="14246352" y="5020056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520672" y="48463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มนุษย์ตัดสินใจทุกครั้ง</a:t>
            </a:r>
          </a:p>
        </p:txBody>
      </p:sp>
      <p:sp>
        <p:nvSpPr>
          <p:cNvPr id="61" name="Oval 60"/>
          <p:cNvSpPr/>
          <p:nvPr/>
        </p:nvSpPr>
        <p:spPr>
          <a:xfrm>
            <a:off x="14246352" y="5660136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520672" y="548640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ไม่อนุมัติหรือปรับวงเงินอัตโนมัติ</a:t>
            </a:r>
          </a:p>
        </p:txBody>
      </p:sp>
      <p:sp>
        <p:nvSpPr>
          <p:cNvPr id="63" name="Oval 62"/>
          <p:cNvSpPr/>
          <p:nvPr/>
        </p:nvSpPr>
        <p:spPr>
          <a:xfrm>
            <a:off x="14246352" y="6300216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520672" y="6126479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แสดงสมมติฐานและแหล่งอ้างอิง</a:t>
            </a:r>
          </a:p>
        </p:txBody>
      </p:sp>
      <p:sp>
        <p:nvSpPr>
          <p:cNvPr id="65" name="Oval 64"/>
          <p:cNvSpPr/>
          <p:nvPr/>
        </p:nvSpPr>
        <p:spPr>
          <a:xfrm>
            <a:off x="14246352" y="6940296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520672" y="6766559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บันทึกคำถามและคำตอบ (Audit)</a:t>
            </a:r>
          </a:p>
        </p:txBody>
      </p:sp>
      <p:sp>
        <p:nvSpPr>
          <p:cNvPr id="67" name="Oval 66"/>
          <p:cNvSpPr/>
          <p:nvPr/>
        </p:nvSpPr>
        <p:spPr>
          <a:xfrm>
            <a:off x="14246352" y="7580375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520672" y="740664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ปกปิดข้อมูลส่วนบุคคล (PDPA)</a:t>
            </a:r>
          </a:p>
        </p:txBody>
      </p:sp>
      <p:sp>
        <p:nvSpPr>
          <p:cNvPr id="69" name="Oval 68"/>
          <p:cNvSpPr/>
          <p:nvPr/>
        </p:nvSpPr>
        <p:spPr>
          <a:xfrm>
            <a:off x="14246352" y="8220455"/>
            <a:ext cx="128016" cy="128016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520672" y="8046719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ประเมินคุณภาพคำตอบต่อเนื่อง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M10 — PLATFORM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ปรับได้ทุกปี โดยไม่กระทบข้อมูลย้อนหลัง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423160"/>
            <a:ext cx="5669280" cy="6629400"/>
          </a:xfrm>
          <a:prstGeom prst="roundRect">
            <a:avLst>
              <a:gd name="adj" fmla="val 2580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4168" y="2743200"/>
            <a:ext cx="731520" cy="731520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1A1B50"/>
                </a:solidFill>
                <a:latin typeface="Poppins"/>
                <a:ea typeface="IBM Plex Sans Thai"/>
                <a:cs typeface="IBM Plex Sans Thai"/>
              </a:rPr>
              <a:t>M10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8568" y="274320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System Administration</a:t>
            </a:r>
          </a:p>
        </p:txBody>
      </p:sp>
      <p:sp>
        <p:nvSpPr>
          <p:cNvPr id="9" name="Oval 8"/>
          <p:cNvSpPr/>
          <p:nvPr/>
        </p:nvSpPr>
        <p:spPr>
          <a:xfrm>
            <a:off x="1389888" y="3858768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749039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ข้อมูลหลัก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096511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หน่วยงาน แผนงาน รหัสงบประมาณ หมวดรายจ่าย</a:t>
            </a:r>
          </a:p>
        </p:txBody>
      </p:sp>
      <p:sp>
        <p:nvSpPr>
          <p:cNvPr id="12" name="Oval 11"/>
          <p:cNvSpPr/>
          <p:nvPr/>
        </p:nvSpPr>
        <p:spPr>
          <a:xfrm>
            <a:off x="1389888" y="4700016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4590288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โครงสร้างงบประมาณรายปี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93775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กำหนดลำดับชั้นและรายการตามหลักเกณฑ์แต่ละปี</a:t>
            </a:r>
          </a:p>
        </p:txBody>
      </p:sp>
      <p:sp>
        <p:nvSpPr>
          <p:cNvPr id="15" name="Oval 14"/>
          <p:cNvSpPr/>
          <p:nvPr/>
        </p:nvSpPr>
        <p:spPr>
          <a:xfrm>
            <a:off x="1389888" y="5541264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5431536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สิทธิ์ผู้ใช้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779007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ตามบทบาท หน่วยงาน และระดับข้อมูล</a:t>
            </a:r>
          </a:p>
        </p:txBody>
      </p:sp>
      <p:sp>
        <p:nvSpPr>
          <p:cNvPr id="18" name="Oval 17"/>
          <p:cNvSpPr/>
          <p:nvPr/>
        </p:nvSpPr>
        <p:spPr>
          <a:xfrm>
            <a:off x="1389888" y="6382512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6272783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สายอนุมัติ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662025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ตั้งค่า Workflow และการมอบอำนาจ</a:t>
            </a:r>
          </a:p>
        </p:txBody>
      </p:sp>
      <p:sp>
        <p:nvSpPr>
          <p:cNvPr id="21" name="Oval 20"/>
          <p:cNvSpPr/>
          <p:nvPr/>
        </p:nvSpPr>
        <p:spPr>
          <a:xfrm>
            <a:off x="1389888" y="7223759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7114031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แบบฟอร์มและรายงาน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74615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ปรับตามแบบที่หน่วยงานและสำนักงบประมาณกำหนด</a:t>
            </a:r>
          </a:p>
        </p:txBody>
      </p:sp>
      <p:sp>
        <p:nvSpPr>
          <p:cNvPr id="24" name="Oval 23"/>
          <p:cNvSpPr/>
          <p:nvPr/>
        </p:nvSpPr>
        <p:spPr>
          <a:xfrm>
            <a:off x="1389888" y="8065007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7955279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Audit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830275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บันทึกทุกการเปลี่ยนแปลงของระบบและข้อมูล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67728" y="2423160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23760" y="2738628"/>
            <a:ext cx="585216" cy="585216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29" name="Picture 28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4" y="2884932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91856" y="260604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Modular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3044952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เพิ่มโมดูลได้โดยไม่กระทบโมดูลเดิม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234672" y="2423160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490703" y="2738628"/>
            <a:ext cx="585216" cy="585216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4" name="Picture 33" descr="plu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007" y="2884932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258800" y="260604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API-First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0" y="3044952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ทุกความสามารถเรียกใช้ผ่าน 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67728" y="3776472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23760" y="4091939"/>
            <a:ext cx="585216" cy="585216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39" name="Picture 38" descr="sync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4238244"/>
            <a:ext cx="292608" cy="2926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991856" y="3959352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Configurable Budget 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1856" y="4398264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โครงสร้างงบประมาณเปลี่ยนได้รายปี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234672" y="3776472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2490703" y="4091939"/>
            <a:ext cx="585216" cy="585216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44" name="Picture 43" descr="flow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37007" y="4238244"/>
            <a:ext cx="292608" cy="29260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3258800" y="3959352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Configurable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0" y="4398264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สายอนุมัติตามโครงสร้างองค์กร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67728" y="5129783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223760" y="5445251"/>
            <a:ext cx="585216" cy="585216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49" name="Picture 48" descr="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0064" y="5591555"/>
            <a:ext cx="292608" cy="2926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991856" y="5312664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Role-Based Access Control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1856" y="5751575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สิทธิ์ตามบทบาทและหน่วยงาน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234672" y="5129783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490703" y="5445251"/>
            <a:ext cx="585216" cy="585216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4" name="Picture 53" descr="pla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37007" y="5591555"/>
            <a:ext cx="292608" cy="29260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3258800" y="5312664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Multi-Organization Support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0" y="5751575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รองรับหลายหน่วยงานในระบบเดียว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67728" y="6483096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223760" y="6798564"/>
            <a:ext cx="585216" cy="585216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9" name="Picture 58" descr="history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0064" y="6944868"/>
            <a:ext cx="292608" cy="2926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991856" y="6665976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Audit Logging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91856" y="7104888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ตรวจสอบย้อนหลังได้ทุกรายการ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234672" y="6483096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2490703" y="6798564"/>
            <a:ext cx="585216" cy="585216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64" name="Picture 63" descr="shield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37007" y="6944868"/>
            <a:ext cx="292608" cy="29260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3258800" y="6665976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Data Encryption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258800" y="7104888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เข้ารหัสข้อมูลทั้งขณะจัดเก็บและรับส่ง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67728" y="7836408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223760" y="8151875"/>
            <a:ext cx="585216" cy="585216"/>
          </a:xfrm>
          <a:prstGeom prst="ellipse">
            <a:avLst/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69" name="Picture 68" descr="cloud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0064" y="8298179"/>
            <a:ext cx="292608" cy="29260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991856" y="8019288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Backup &amp; Disaster Recovery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91856" y="845820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สำรองข้อมูลและแผนกู้คืนระบบ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2234672" y="7836408"/>
            <a:ext cx="5029200" cy="1216152"/>
          </a:xfrm>
          <a:prstGeom prst="roundRect">
            <a:avLst>
              <a:gd name="adj" fmla="val 10526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2490703" y="8151875"/>
            <a:ext cx="585216" cy="585216"/>
          </a:xfrm>
          <a:prstGeom prst="ellipse">
            <a:avLst/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74" name="Picture 73" descr="check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37007" y="8298179"/>
            <a:ext cx="292608" cy="2926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3258800" y="8019288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PDPA Compliance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258800" y="845820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คุ้มครองข้อมูลส่วนบุคคลตามกฎหมาย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เชื่อมต่อระบบภายนอกผ่านช่องทางที่ได้รับอนุญาต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3520440"/>
            <a:ext cx="4846320" cy="3200400"/>
          </a:xfrm>
          <a:prstGeom prst="roundRect">
            <a:avLst>
              <a:gd name="adj" fmla="val 5714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38404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Fisko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4434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Integration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4937760"/>
            <a:ext cx="3931920" cy="438912"/>
          </a:xfrm>
          <a:prstGeom prst="roundRect">
            <a:avLst>
              <a:gd name="adj" fmla="val 20833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REST API / API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5486400"/>
            <a:ext cx="3931920" cy="438912"/>
          </a:xfrm>
          <a:prstGeom prst="roundRect">
            <a:avLst>
              <a:gd name="adj" fmla="val 20833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Data Exchange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6035040"/>
            <a:ext cx="3931920" cy="438912"/>
          </a:xfrm>
          <a:prstGeom prst="roundRect">
            <a:avLst>
              <a:gd name="adj" fmla="val 20833"/>
            </a:avLst>
          </a:prstGeom>
          <a:solidFill>
            <a:srgbClr val="232366"/>
          </a:solidFill>
          <a:ln w="12700">
            <a:solidFill>
              <a:srgbClr val="3A3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ETL · Excel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514600"/>
            <a:ext cx="4480560" cy="1691640"/>
          </a:xfrm>
          <a:prstGeom prst="roundRect">
            <a:avLst>
              <a:gd name="adj" fmla="val 7567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6974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New e-Budgeting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13639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สำนักงบประมาณ — แลกเปลี่ยนข้อมูลคำของบประมาณ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67327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⇄  ส่งคำขอ / รับผลพิจารณา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3360420"/>
            <a:ext cx="1069848" cy="525780"/>
          </a:xfrm>
          <a:prstGeom prst="line">
            <a:avLst/>
          </a:prstGeom>
          <a:ln w="19050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4128" y="4526280"/>
            <a:ext cx="4480560" cy="1691640"/>
          </a:xfrm>
          <a:prstGeom prst="roundRect">
            <a:avLst>
              <a:gd name="adj" fmla="val 7567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47091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New GFMIS Thai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514807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นำเข้าข้อมูลการเบิกจ่ายและสถานะงบประมาณตามสิทธิ์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577900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⇄  นำเข้าผลเบิกจ่าย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77840" y="5372100"/>
            <a:ext cx="1069848" cy="0"/>
          </a:xfrm>
          <a:prstGeom prst="line">
            <a:avLst/>
          </a:prstGeom>
          <a:ln w="19050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128" y="6537960"/>
            <a:ext cx="4480560" cy="1691640"/>
          </a:xfrm>
          <a:prstGeom prst="roundRect">
            <a:avLst>
              <a:gd name="adj" fmla="val 7567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4168" y="672084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ERP / Financial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715975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เชื่อมโยงข้อมูลบัญชีและการเงิน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779068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⇄  ข้อมูลบัญชี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577840" y="6355079"/>
            <a:ext cx="1069848" cy="1028701"/>
          </a:xfrm>
          <a:prstGeom prst="line">
            <a:avLst/>
          </a:prstGeom>
          <a:ln w="19050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2783311" y="3246120"/>
            <a:ext cx="4480560" cy="1691640"/>
          </a:xfrm>
          <a:prstGeom prst="roundRect">
            <a:avLst>
              <a:gd name="adj" fmla="val 7567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03351" y="342900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e-GP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03351" y="3867911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ข้อมูลการจัดซื้อจัดจ้างที่เปิดให้ใช้งาน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03351" y="449884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⇄  สถานะจัดซื้อจัดจ้าง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1640311" y="4091939"/>
            <a:ext cx="1069848" cy="0"/>
          </a:xfrm>
          <a:prstGeom prst="line">
            <a:avLst/>
          </a:prstGeom>
          <a:ln w="19050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2783311" y="5623560"/>
            <a:ext cx="4480560" cy="1691640"/>
          </a:xfrm>
          <a:prstGeom prst="roundRect">
            <a:avLst>
              <a:gd name="adj" fmla="val 7567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03351" y="580644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HR / Payroll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03351" y="624535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ข้อมูลบุคลากรสำหรับประมาณการงบบุคลากร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03351" y="687628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⇄  ข้อมูลอัตรากำลัง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11640311" y="6355079"/>
            <a:ext cx="1069848" cy="114301"/>
          </a:xfrm>
          <a:prstGeom prst="line">
            <a:avLst/>
          </a:prstGeom>
          <a:ln w="19050">
            <a:solidFill>
              <a:srgbClr val="1B9E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24128" y="8503920"/>
            <a:ext cx="16239744" cy="868680"/>
          </a:xfrm>
          <a:prstGeom prst="roundRect">
            <a:avLst>
              <a:gd name="adj" fmla="val 14736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81328" y="8503920"/>
            <a:ext cx="153253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ทุกการเชื่อมต่อต้องตรวจสอบข้อกำหนดและช่องทางที่หน่วยงานเจ้าของระบบอนุญาตก่อนดำเนินการจริง — ระหว่างนั้นรองรับการนำเข้า/ส่งออกไฟล์ตามรูปแบบที่กำหนด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TECHNOLOGY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เทคโนโลยีหลักของระบบ บนแพลตฟอร์มที่ใช้งานจริงแล้ว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423160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258775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USER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9260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Responsive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2423160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ใช้งานผ่านเว็บและมือถือ ไม่ต้องติดตั้งโปรแกรม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3666744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3831335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APPLICATION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4169663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Low-code Application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3666744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หน้าจอ แบบฟอร์ม และโมดูลงานงบประมาณ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910327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507491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WORKFLOW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5413247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BPM Workflow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4910327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สายอนุมัติหลายระดับ มอบอำนาจ ส่งกลับแก้ไข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153912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631850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BUSINESS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665683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Business Rules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6153912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หลักเกณฑ์และการตรวจสอบ ปรับได้รายปีโดยไม่แก้โค้ด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397496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4168" y="756208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AI AGENT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790041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Agentic AI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7397496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AI Agents สำหรับจัดทำ ตรวจสอบ วิเคราะห์ ติดตาม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2423160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58775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DOCUMENT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9260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Document AI · OCR &amp;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04520" y="2423160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อ่านและตรวจความครบถ้วนของเอกสารประกอบคำขอ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3666744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3831335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169663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REST API / API Gateway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04520" y="3666744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เชื่อมระบบภายนอกแบบ API-First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60" y="4910327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507491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DATA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413247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PostgreSQL / RDBMS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04520" y="4910327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ฐานข้อมูลงบประมาณ ข้อมูลหลัก และข้อมูลย้อนหลัง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1160" y="6153912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631850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REPORTING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65683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BI &amp; Reporting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04520" y="6153912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Dashboard รายงานตามแบบฟอร์ม ส่งออก Excel / PDF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7397496"/>
            <a:ext cx="7982712" cy="1115568"/>
          </a:xfrm>
          <a:prstGeom prst="roundRect">
            <a:avLst>
              <a:gd name="adj" fmla="val 11475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756208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790041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Gov Cloud · Private Cloud · On-Premise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304520" y="7397496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เลือกรูปแบบติดตั้งตามนโยบายหน่วยงาน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" y="86685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8641080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แพลตฟอร์มของ Avalant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CONCEPTUAL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ข้อมูลเชื่อมกันตั้งแต่แผนถึงผลการดำเนินงาน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514600"/>
            <a:ext cx="2606040" cy="868680"/>
          </a:xfrm>
          <a:prstGeom prst="roundRect">
            <a:avLst>
              <a:gd name="adj" fmla="val 12631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62432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9718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หน่วยงาน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791" y="2514600"/>
            <a:ext cx="26060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262432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Strategic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29718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แผนยุทธศาสตร์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75887" y="2948940"/>
            <a:ext cx="329185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77456" y="2514600"/>
            <a:ext cx="26060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262432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Strategic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29718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เป้าประสงค์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2552" y="2948940"/>
            <a:ext cx="329184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04120" y="2514600"/>
            <a:ext cx="26060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262432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9718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ตัวชี้วัด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29216" y="2948940"/>
            <a:ext cx="329184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4128" y="3931920"/>
            <a:ext cx="11686032" cy="2331720"/>
          </a:xfrm>
          <a:prstGeom prst="roundRect">
            <a:avLst>
              <a:gd name="adj" fmla="val 6274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4168" y="41605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41605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คำของบประมาณ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44168" y="4754880"/>
            <a:ext cx="26380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Fiscal Year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6804" y="4754880"/>
            <a:ext cx="26380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Program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4754880"/>
            <a:ext cx="26380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Project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2076" y="4754880"/>
            <a:ext cx="26380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Activity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44168" y="5413248"/>
            <a:ext cx="26380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Item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46804" y="5413248"/>
            <a:ext cx="26380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Budget Amount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5413248"/>
            <a:ext cx="26380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212235"/>
                </a:solidFill>
                <a:latin typeface="Calibri"/>
                <a:ea typeface="IBM Plex Sans Thai"/>
                <a:cs typeface="IBM Plex Sans Thai"/>
              </a:rPr>
              <a:t>Supporting Document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2076" y="5413248"/>
            <a:ext cx="26380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Approval History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27148" y="3429000"/>
            <a:ext cx="0" cy="45720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24128" y="6903720"/>
            <a:ext cx="26060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" y="701344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Approved Budget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73609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วงเงินที่ได้รับ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50791" y="6903720"/>
            <a:ext cx="26060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3672" y="701344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Allocation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3672" y="73609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การจัดสรร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675887" y="7338060"/>
            <a:ext cx="329185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77456" y="6903720"/>
            <a:ext cx="26060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701344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Budget 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336" y="73609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การใช้จ่าย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02552" y="7338060"/>
            <a:ext cx="329184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104120" y="6903720"/>
            <a:ext cx="2606040" cy="868680"/>
          </a:xfrm>
          <a:prstGeom prst="roundRect">
            <a:avLst>
              <a:gd name="adj" fmla="val 12631"/>
            </a:avLst>
          </a:prstGeom>
          <a:solidFill>
            <a:srgbClr val="1B9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87000" y="7013448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Performance 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73609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ผลการดำเนินงาน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729216" y="7338060"/>
            <a:ext cx="329184" cy="0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327148" y="6309359"/>
            <a:ext cx="0" cy="548641"/>
          </a:xfrm>
          <a:prstGeom prst="line">
            <a:avLst/>
          </a:prstGeom>
          <a:ln w="22225">
            <a:solidFill>
              <a:srgbClr val="7A7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12710160" y="2948940"/>
            <a:ext cx="274320" cy="4389120"/>
          </a:xfrm>
          <a:custGeom>
            <a:avLst/>
            <a:gdLst/>
            <a:ahLst/>
            <a:cxnLst/>
            <a:rect l="l" t="t" r="r" b="b"/>
            <a:pathLst>
              <a:path w="274320" h="4389120">
                <a:moveTo>
                  <a:pt x="0" y="4389120"/>
                </a:moveTo>
                <a:lnTo>
                  <a:pt x="274320" y="4389120"/>
                </a:lnTo>
                <a:lnTo>
                  <a:pt x="274320" y="0"/>
                </a:lnTo>
                <a:lnTo>
                  <a:pt x="45720" y="0"/>
                </a:lnTo>
              </a:path>
            </a:pathLst>
          </a:custGeom>
          <a:noFill/>
          <a:ln w="22225">
            <a:solidFill>
              <a:srgbClr val="1B9E29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" y="7955279"/>
            <a:ext cx="1168603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ผลการดำเนินงานย้อนกลับไปวัดเทียบกับตัวชี้วัดของแผน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213080" y="2514600"/>
            <a:ext cx="4050791" cy="6537960"/>
          </a:xfrm>
          <a:prstGeom prst="roundRect">
            <a:avLst>
              <a:gd name="adj" fmla="val 3611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533119" y="2743200"/>
            <a:ext cx="3410711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รองรับการเปลี่ยนโครงสร้างรายปี</a:t>
            </a:r>
          </a:p>
        </p:txBody>
      </p:sp>
      <p:sp>
        <p:nvSpPr>
          <p:cNvPr id="53" name="Oval 52"/>
          <p:cNvSpPr/>
          <p:nvPr/>
        </p:nvSpPr>
        <p:spPr>
          <a:xfrm>
            <a:off x="13533119" y="3886200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834872" y="3794760"/>
            <a:ext cx="313639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Fiscal-year scoped structure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834872" y="4178808"/>
            <a:ext cx="3136391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โครงสร้างงบประมาณผูกกับปีงบประมาณ</a:t>
            </a:r>
          </a:p>
        </p:txBody>
      </p:sp>
      <p:sp>
        <p:nvSpPr>
          <p:cNvPr id="56" name="Oval 55"/>
          <p:cNvSpPr/>
          <p:nvPr/>
        </p:nvSpPr>
        <p:spPr>
          <a:xfrm>
            <a:off x="13533119" y="5148072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834872" y="5056632"/>
            <a:ext cx="313639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Versioned amounts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834872" y="5440680"/>
            <a:ext cx="3136391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วงเงินทุกรอบเก็บเป็นเวอร์ชัน ไม่เขียนทับ</a:t>
            </a:r>
          </a:p>
        </p:txBody>
      </p:sp>
      <p:sp>
        <p:nvSpPr>
          <p:cNvPr id="59" name="Oval 58"/>
          <p:cNvSpPr/>
          <p:nvPr/>
        </p:nvSpPr>
        <p:spPr>
          <a:xfrm>
            <a:off x="13533119" y="6409944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834872" y="6318504"/>
            <a:ext cx="313639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Effective-dated master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834872" y="6702552"/>
            <a:ext cx="3136391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ข้อมูลหลักมีช่วงเวลาที่มีผล</a:t>
            </a:r>
          </a:p>
        </p:txBody>
      </p:sp>
      <p:sp>
        <p:nvSpPr>
          <p:cNvPr id="62" name="Oval 61"/>
          <p:cNvSpPr/>
          <p:nvPr/>
        </p:nvSpPr>
        <p:spPr>
          <a:xfrm>
            <a:off x="13533119" y="7671815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834872" y="7580375"/>
            <a:ext cx="313639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Cross-year mapping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834872" y="7964423"/>
            <a:ext cx="3136391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จับคู่รหัสข้ามปีเพื่อเปรียบเทียบย้อนหลัง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4 ระยะ เริ่มจากแกนหลักของงานงบประมาณ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514600"/>
            <a:ext cx="3840480" cy="5486400"/>
          </a:xfrm>
          <a:prstGeom prst="roundRect">
            <a:avLst>
              <a:gd name="adj" fmla="val 380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8176" y="2743200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3200400"/>
            <a:ext cx="30723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Foundation &amp;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4023360"/>
            <a:ext cx="307238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เดือน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4526280"/>
            <a:ext cx="3072384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Master Data และโครงสร้างงบประมาณ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M01 Strategic Planning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M02 Budget Preparation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เริ่มขออนุญาตช่องทางเชื่อมต่อระบบภายนอก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8176" y="7406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4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แกนหลักรุ่นแรก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514600"/>
            <a:ext cx="3840480" cy="5486400"/>
          </a:xfrm>
          <a:prstGeom prst="roundRect">
            <a:avLst>
              <a:gd name="adj" fmla="val 3809"/>
            </a:avLst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1264" y="2743200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B9E29"/>
                </a:solidFill>
                <a:latin typeface="Poppins"/>
                <a:ea typeface="IBM Plex Sans Thai"/>
                <a:cs typeface="IBM Plex Sans Tha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3200400"/>
            <a:ext cx="30723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Consolidate &amp; 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1264" y="4023360"/>
            <a:ext cx="307238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เดือน 4–5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4526280"/>
            <a:ext cx="3072384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M03 Budget Consolidation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M04 Review &amp; Approval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M05 Budget Submission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41264" y="7406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4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B9E29"/>
                </a:solidFill>
                <a:latin typeface="Calibri"/>
                <a:ea typeface="IBM Plex Sans Thai"/>
                <a:cs typeface="IBM Plex Sans Thai"/>
              </a:rPr>
              <a:t>แกนหลักรุ่นแรก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0304" y="2514600"/>
            <a:ext cx="3840480" cy="548640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2743200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A1B50"/>
                </a:solidFill>
                <a:latin typeface="Poppins"/>
                <a:ea typeface="IBM Plex Sans Thai"/>
                <a:cs typeface="IBM Plex Sans Thai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3200400"/>
            <a:ext cx="30723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Execute &amp;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4023360"/>
            <a:ext cx="307238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เดือน 6–7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4526280"/>
            <a:ext cx="3072384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M06 Budget Allocation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M07 Execution &amp; Monitoring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M08 Performance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Executive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423392" y="2514600"/>
            <a:ext cx="3840480" cy="548640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DD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07440" y="2743200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A1B50"/>
                </a:solidFill>
                <a:latin typeface="Poppins"/>
                <a:ea typeface="IBM Plex Sans Thai"/>
                <a:cs typeface="IBM Plex Sans Thai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0" y="3200400"/>
            <a:ext cx="30723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12235"/>
                </a:solidFill>
                <a:latin typeface="Poppins"/>
                <a:ea typeface="IBM Plex Sans Thai"/>
                <a:cs typeface="IBM Plex Sans Thai"/>
              </a:rPr>
              <a:t>Intelligence &amp; 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07440" y="4023360"/>
            <a:ext cx="307238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7A7B92"/>
                </a:solidFill>
                <a:latin typeface="Calibri"/>
                <a:ea typeface="IBM Plex Sans Thai"/>
                <a:cs typeface="IBM Plex Sans Thai"/>
              </a:rPr>
              <a:t>เดือน 8–9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0" y="4526280"/>
            <a:ext cx="3072384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M09 AI Agents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Integration กับระบบภายนอก</a:t>
            </a:r>
          </a:p>
          <a:p>
            <a:pPr algn="l" marL="201168" indent="-201168">
              <a:lnSpc>
                <a:spcPct val="100000"/>
              </a:lnSpc>
              <a:spcAft>
                <a:spcPts val="800"/>
              </a:spcAft>
              <a:buClr>
                <a:srgbClr val="1B9E29"/>
              </a:buClr>
              <a:buFont typeface="Arial"/>
              <a:buChar char="•"/>
            </a:pPr>
            <a:r>
              <a:rPr sz="1400" b="0" i="0">
                <a:solidFill>
                  <a:srgbClr val="45465C"/>
                </a:solidFill>
                <a:latin typeface="Calibri"/>
                <a:ea typeface="IBM Plex Sans Thai"/>
                <a:cs typeface="IBM Plex Sans Thai"/>
              </a:rPr>
              <a:t>UAT และเตรียม Go-Live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8229600"/>
            <a:ext cx="16239744" cy="914400"/>
          </a:xfrm>
          <a:prstGeom prst="roundRect">
            <a:avLst>
              <a:gd name="adj" fmla="val 14000"/>
            </a:avLst>
          </a:prstGeom>
          <a:solidFill>
            <a:srgbClr val="1A1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81328" y="8229600"/>
            <a:ext cx="15325344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ระยะเวลา 9 เดือนเป็นสมมติฐานเบื้องต้น — ประเมินอีกครั้งตามจำนวนหน่วยงาน แบบฟอร์ม รายงาน และข้อกำหนดการเชื่อมต่อจริง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232" y="841248"/>
            <a:ext cx="1691640" cy="484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9747504"/>
            <a:ext cx="18288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8A8BA8"/>
                </a:solidFill>
                <a:latin typeface="Calibri"/>
                <a:ea typeface="IBM Plex Sans Thai"/>
                <a:cs typeface="IBM Plex Sans Thai"/>
              </a:rPr>
              <a:t>© 2026 Avalant. All rights reserved.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68680"/>
            <a:ext cx="1422806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pc="240" sz="14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243584"/>
            <a:ext cx="1422806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38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ก้าวต่อไปสู่ Detailed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2AD03D"/>
                </a:solidFill>
                <a:latin typeface="Calibri"/>
                <a:ea typeface="IBM Plex Sans Thai"/>
                <a:cs typeface="IBM Plex Sans Thai"/>
              </a:rPr>
              <a:t>เอกสารที่จะจัดทำ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926080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32004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3200400"/>
            <a:ext cx="3886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Business Process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402336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กระบวนการงบประมาณต้นจนจบ พร้อม BPMN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2926080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32004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3200400"/>
            <a:ext cx="3886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Functional Requirement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402336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ฟังก์ชันและ Business Rules ทุกโมดูล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910328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518464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5184648"/>
            <a:ext cx="3886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Logical 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4248" y="6007608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ER Diagram และ Data Dictionary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4910328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518464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5184648"/>
            <a:ext cx="3886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UI/UX Conceptual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6007608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Budget Workspace, Request, Approval,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894576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716889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4248" y="7168896"/>
            <a:ext cx="3886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System Architecture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4248" y="7991856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Component, Integration และ Security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6894576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232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716889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26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7168896"/>
            <a:ext cx="38862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Poppins"/>
                <a:ea typeface="IBM Plex Sans Thai"/>
                <a:cs typeface="IBM Plex Sans Thai"/>
              </a:rPr>
              <a:t>TOR Compliance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7991856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C9CADF"/>
                </a:solidFill>
                <a:latin typeface="Calibri"/>
                <a:ea typeface="IBM Plex Sans Thai"/>
                <a:cs typeface="IBM Plex Sans Thai"/>
              </a:rPr>
              <a:t>เทียบฟังก์ชันกับ TOR อ้างอิง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86032" y="2423160"/>
            <a:ext cx="5577840" cy="6620256"/>
          </a:xfrm>
          <a:prstGeom prst="roundRect">
            <a:avLst>
              <a:gd name="adj" fmla="val 2622"/>
            </a:avLst>
          </a:prstGeom>
          <a:solidFill>
            <a:srgbClr val="1A1B50"/>
          </a:solidFill>
          <a:ln w="19050">
            <a:solidFill>
              <a:srgbClr val="2AD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51792" y="269748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AD03D"/>
                </a:solidFill>
                <a:latin typeface="Poppins"/>
                <a:ea typeface="IBM Plex Sans Thai"/>
                <a:cs typeface="IBM Plex Sans Thai"/>
              </a:rPr>
              <a:t>ประเด็นที่ต้องร่วมกำหนดกับหน่วยงาน</a:t>
            </a:r>
          </a:p>
        </p:txBody>
      </p:sp>
      <p:sp>
        <p:nvSpPr>
          <p:cNvPr id="33" name="Oval 32"/>
          <p:cNvSpPr/>
          <p:nvPr/>
        </p:nvSpPr>
        <p:spPr>
          <a:xfrm>
            <a:off x="12051792" y="3840479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71832" y="3749039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โครงสร้างองค์กรและสายอนุมัติ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71832" y="416052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ลำดับชั้นหน่วยงานและผู้มีอำนาจแต่ละระดับ</a:t>
            </a:r>
          </a:p>
        </p:txBody>
      </p:sp>
      <p:sp>
        <p:nvSpPr>
          <p:cNvPr id="36" name="Oval 35"/>
          <p:cNvSpPr/>
          <p:nvPr/>
        </p:nvSpPr>
        <p:spPr>
          <a:xfrm>
            <a:off x="12051792" y="5102351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71832" y="5010912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แบบฟอร์มและรายงานที่ใช้จริง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71832" y="5422392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แบบคำขอ รายงานผู้บริหาร และแบบส่งสำนักงบประมาณ</a:t>
            </a:r>
          </a:p>
        </p:txBody>
      </p:sp>
      <p:sp>
        <p:nvSpPr>
          <p:cNvPr id="39" name="Oval 38"/>
          <p:cNvSpPr/>
          <p:nvPr/>
        </p:nvSpPr>
        <p:spPr>
          <a:xfrm>
            <a:off x="12051792" y="6364223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71832" y="6272783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ระบบภายนอกและสิทธิ์เชื่อมต่อ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71832" y="6684264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ช่องทางที่หน่วยงานเจ้าของระบบอนุญาต</a:t>
            </a:r>
          </a:p>
        </p:txBody>
      </p:sp>
      <p:sp>
        <p:nvSpPr>
          <p:cNvPr id="42" name="Oval 41"/>
          <p:cNvSpPr/>
          <p:nvPr/>
        </p:nvSpPr>
        <p:spPr>
          <a:xfrm>
            <a:off x="12051792" y="7626095"/>
            <a:ext cx="146304" cy="146304"/>
          </a:xfrm>
          <a:prstGeom prst="ellipse">
            <a:avLst/>
          </a:prstGeom>
          <a:solidFill>
            <a:srgbClr val="2A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71832" y="7534655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IBM Plex Sans Thai"/>
                <a:cs typeface="IBM Plex Sans Thai"/>
              </a:rPr>
              <a:t>รูปแบบการติดตั้ง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71832" y="7946135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AFB0C8"/>
                </a:solidFill>
                <a:latin typeface="Calibri"/>
                <a:ea typeface="IBM Plex Sans Thai"/>
                <a:cs typeface="IBM Plex Sans Thai"/>
              </a:rPr>
              <a:t>Government Cloud, Private Cloud หรือ On-Premise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14352</Words>
  <Application>Microsoft Office PowerPoint</Application>
  <PresentationFormat>Custom</PresentationFormat>
  <Paragraphs>1056</Paragraphs>
  <Slides>29</Slides>
  <Notes>28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Inter</vt:lpstr>
      <vt:lpstr>Poppins</vt:lpstr>
      <vt:lpstr>Poppins Bold</vt:lpstr>
      <vt:lpstr>Poppins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Avalant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the Finance Function — CP Axtra</dc:title>
  <dc:subject>PptxGenJS Presentation</dc:subject>
  <dc:creator>Avalant</dc:creator>
  <cp:lastModifiedBy>Akarapol Bunworaset</cp:lastModifiedBy>
  <cp:revision>3</cp:revision>
  <dcterms:created xsi:type="dcterms:W3CDTF">2026-08-20T08:58:59Z</dcterms:created>
  <dcterms:modified xsi:type="dcterms:W3CDTF">2026-08-21T00:39:58Z</dcterms:modified>
</cp:coreProperties>
</file>